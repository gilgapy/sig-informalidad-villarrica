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4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imera parte" id="{D46004E0-B159-6DDB-168A-99F85E20E646}">
          <p14:sldIdLst>
            <p14:sldId id="256"/>
            <p14:sldId id="257"/>
            <p14:sldId id="258"/>
            <p14:sldId id="259"/>
          </p14:sldIdLst>
        </p14:section>
        <p14:section name="Segunda parte" id="{A9454C2A-0071-A524-8A19-1549D6CDA24D}">
          <p14:sldIdLst>
            <p14:sldId id="260"/>
            <p14:sldId id="261"/>
            <p14:sldId id="262"/>
            <p14:sldId id="263"/>
          </p14:sldIdLst>
        </p14:section>
        <p14:section name="Tercera parte" id="{1DABEBEC-511F-4EB8-7E74-0F7231CDC471}">
          <p14:sldIdLst>
            <p14:sldId id="264"/>
            <p14:sldId id="265"/>
          </p14:sldIdLst>
        </p14:section>
        <p14:section name="Cuarta parte" id="{D4E45AD5-5A91-666E-396B-2E002D6AB1B9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1" id="{6F045819-C15B-828C-9587-4CEAC736F94C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title>
      <c:tx>
        <c:rich>
          <a:bodyPr/>
          <a:lstStyle/>
          <a:p>
            <a:r>
              <a:rPr lang="es-PY" sz="1300" b="0">
                <a:solidFill>
                  <a:schemeClr val="tx2"/>
                </a:solidFill>
              </a:rPr>
              <a:t>Déficit medio frente al salario mínimo (miles de Gs.)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</c:v>
                </c:pt>
              </c:strCache>
            </c:strRef>
          </c:tx>
          <c:spPr>
            <a:solidFill>
              <a:schemeClr val="accent1"/>
            </a:solidFill>
          </c:spPr>
          <c:invertIfNegative val="1"/>
          <c:dLbls>
            <c:numFmt formatCode="&quot;−&quot;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chemeClr val="tx2"/>
                    </a:solidFill>
                  </a:defRPr>
                </a:pPr>
                <a:endParaRPr lang="es-PY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Estación</c:v>
                </c:pt>
                <c:pt idx="1">
                  <c:v>Ybaroty</c:v>
                </c:pt>
                <c:pt idx="2">
                  <c:v>Lomas Valentinas</c:v>
                </c:pt>
                <c:pt idx="3">
                  <c:v>Tuyutimí</c:v>
                </c:pt>
                <c:pt idx="4">
                  <c:v>Centro</c:v>
                </c:pt>
                <c:pt idx="5">
                  <c:v>San Miguel</c:v>
                </c:pt>
                <c:pt idx="6">
                  <c:v>Santa Librada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845</c:v>
                </c:pt>
                <c:pt idx="1">
                  <c:v>818</c:v>
                </c:pt>
                <c:pt idx="2">
                  <c:v>712</c:v>
                </c:pt>
                <c:pt idx="3">
                  <c:v>694</c:v>
                </c:pt>
                <c:pt idx="4">
                  <c:v>662</c:v>
                </c:pt>
                <c:pt idx="5">
                  <c:v>640</c:v>
                </c:pt>
                <c:pt idx="6">
                  <c:v>622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DBE-8F4B-B3FF-61FE300F7C6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8DCC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0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solidFill>
            <a:schemeClr val="accent5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title>
      <c:tx>
        <c:rich>
          <a:bodyPr/>
          <a:lstStyle/>
          <a:p>
            <a:r>
              <a:rPr lang="es-PY" sz="1300" b="0">
                <a:solidFill>
                  <a:schemeClr val="tx2"/>
                </a:solidFill>
              </a:rPr>
              <a:t>Trabajadores sin IPS (n = 400)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</c:v>
                </c:pt>
              </c:strCache>
            </c:strRef>
          </c:tx>
          <c:spPr>
            <a:solidFill>
              <a:schemeClr val="accent1"/>
            </a:solidFill>
          </c:spPr>
          <c:invertIfNegative val="1"/>
          <c:dPt>
            <c:idx val="2"/>
            <c:invertIfNegative val="1"/>
            <c:bubble3D val="0"/>
            <c:spPr>
              <a:solidFill>
                <a:schemeClr val="accent4"/>
              </a:solidFill>
            </c:spPr>
            <c:extLst>
              <c:ext xmlns:c16="http://schemas.microsoft.com/office/drawing/2014/chart" uri="{C3380CC4-5D6E-409C-BE32-E72D297353CC}">
                <c16:uniqueId val="{00000001-C1AE-A143-A1F4-4403EB1F0E9E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chemeClr val="tx2"/>
                    </a:solidFill>
                  </a:defRPr>
                </a:pPr>
                <a:endParaRPr lang="es-PY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Ingreso insuficiente</c:v>
                </c:pt>
                <c:pt idx="1">
                  <c:v>Mala atención en el IPS</c:v>
                </c:pt>
                <c:pt idx="2">
                  <c:v>Desconoce los trámites</c:v>
                </c:pt>
                <c:pt idx="3">
                  <c:v>Desconfía de la jubilación</c:v>
                </c:pt>
                <c:pt idx="4">
                  <c:v>El empleador no lo inscribe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</c:v>
                </c:pt>
                <c:pt idx="1">
                  <c:v>28</c:v>
                </c:pt>
                <c:pt idx="2">
                  <c:v>17</c:v>
                </c:pt>
                <c:pt idx="3">
                  <c:v>14</c:v>
                </c:pt>
                <c:pt idx="4">
                  <c:v>10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C1AE-A143-A1F4-4403EB1F0E9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8DCC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0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solidFill>
            <a:schemeClr val="accent5"/>
          </a:solidFill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title>
      <c:tx>
        <c:rich>
          <a:bodyPr/>
          <a:lstStyle/>
          <a:p>
            <a:r>
              <a:rPr lang="es-PY" sz="1300" b="0">
                <a:solidFill>
                  <a:schemeClr val="tx2"/>
                </a:solidFill>
              </a:rPr>
              <a:t>MYPEs: motivo patronal (N = 135)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</c:v>
                </c:pt>
              </c:strCache>
            </c:strRef>
          </c:tx>
          <c:spPr>
            <a:solidFill>
              <a:schemeClr val="accent1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chemeClr val="accent4"/>
              </a:solidFill>
            </c:spPr>
            <c:extLst>
              <c:ext xmlns:c16="http://schemas.microsoft.com/office/drawing/2014/chart" uri="{C3380CC4-5D6E-409C-BE32-E72D297353CC}">
                <c16:uniqueId val="{00000001-03DA-2C4B-A9F0-73D04B992E61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chemeClr val="tx2"/>
                    </a:solidFill>
                  </a:defRPr>
                </a:pPr>
                <a:endParaRPr lang="es-PY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Desconoce los trámites</c:v>
                </c:pt>
                <c:pt idx="1">
                  <c:v>Costo del aporte</c:v>
                </c:pt>
                <c:pt idx="2">
                  <c:v>Contrata por jornada</c:v>
                </c:pt>
                <c:pt idx="3">
                  <c:v>Prefieren el jornal íntegro</c:v>
                </c:pt>
                <c:pt idx="4">
                  <c:v>Burocracia documental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</c:v>
                </c:pt>
                <c:pt idx="1">
                  <c:v>22.2</c:v>
                </c:pt>
                <c:pt idx="2">
                  <c:v>20</c:v>
                </c:pt>
                <c:pt idx="3">
                  <c:v>17.8</c:v>
                </c:pt>
                <c:pt idx="4">
                  <c:v>17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03DA-2C4B-A9F0-73D04B992E6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8DCC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0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solidFill>
            <a:schemeClr val="accent5"/>
          </a:solidFill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title>
      <c:tx>
        <c:rich>
          <a:bodyPr/>
          <a:lstStyle/>
          <a:p>
            <a:r>
              <a:rPr lang="es-PY" sz="1300" b="0">
                <a:solidFill>
                  <a:schemeClr val="tx2"/>
                </a:solidFill>
              </a:rPr>
              <a:t>Costo por derivación efectiva (Gs.)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</c:v>
                </c:pt>
              </c:strCache>
            </c:strRef>
          </c:tx>
          <c:spPr>
            <a:solidFill>
              <a:schemeClr val="accent1"/>
            </a:solidFill>
          </c:spPr>
          <c:invertIfNegative val="1"/>
          <c:dPt>
            <c:idx val="3"/>
            <c:invertIfNegative val="1"/>
            <c:bubble3D val="0"/>
            <c:spPr>
              <a:solidFill>
                <a:schemeClr val="accent4"/>
              </a:solidFill>
            </c:spPr>
            <c:extLst>
              <c:ext xmlns:c16="http://schemas.microsoft.com/office/drawing/2014/chart" uri="{C3380CC4-5D6E-409C-BE32-E72D297353CC}">
                <c16:uniqueId val="{00000001-6213-8544-9424-C3B545194352}"/>
              </c:ext>
            </c:extLst>
          </c:dPt>
          <c:dLbls>
            <c:numFmt formatCode="[&gt;=1000]&quot;Gs. &quot;#&quot;.&quot;###;&quot;Gs. &quot;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chemeClr val="tx2"/>
                    </a:solidFill>
                  </a:defRPr>
                </a:pPr>
                <a:endParaRPr lang="es-PY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WhatsApp Business</c:v>
                </c:pt>
                <c:pt idx="1">
                  <c:v>Puntos presenciales / ferias</c:v>
                </c:pt>
                <c:pt idx="2">
                  <c:v>Afiches QR y medios locales</c:v>
                </c:pt>
                <c:pt idx="3">
                  <c:v>Meta Ads (Facebook / Instagram)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589</c:v>
                </c:pt>
                <c:pt idx="1">
                  <c:v>1337</c:v>
                </c:pt>
                <c:pt idx="2">
                  <c:v>3679</c:v>
                </c:pt>
                <c:pt idx="3">
                  <c:v>11678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6213-8544-9424-C3B54519435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8DCC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5000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solidFill>
            <a:schemeClr val="accent5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4662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Saludo a la mesa evaluadora: Prof. Mag. Clara Demattei, Prof. Mag. Gerardo Ortiz y Prof. Dra. Ramona Demattei. Presentar al equipo y el título del Proyecto Interdisciplinario de 8.° semestre.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 informalidad laboral es estructural en el Paraguay. Tres cátedras la abordan desde tres ángulos: Realidad Social diagnostica, SIG organiza los datos para decidir y Marketing Social interviene. Relevamos 420 trabajadores y 135 microempresas en 7 barrios de Villarrica.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objetivo general une las tres cátedras. Los cinco específicos ordenan lo que presentamos: diagnóstico, base de datos, captura móvil, dashboard y campaña.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Relevamiento probabilístico en 7 barrios con formularios digitales. Cada registro pasa por un pipeline ETL en Python hacia PostgreSQL y luego se analiza en R. Consentimiento informado y datos anónimos.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Cuatro números resumen el proyecto antes del detalle: precariedad salarial, falta de seguridad social, informalidad patronal y el resultado de la campaña.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Salario mínimo de referencia: Gs. 3.044.000. El ingreso medio es Gs. 2.338.369, con un déficit medio de Gs. 705.631. Ningún barrio alcanza el mínimo en promedio: el déficit va de 622 mil (Santa Librada) a 845 mil guaraníes (Estación).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 teoría del capital humano dice que más años de estudio dan más ingreso. En Villarrica no se detecta esa relación: r = 0.0092 (p = .850). El modelo de Mincer no es significativo (F(4, 415) = 0.34, p = .8485). Sin capital, certificación ni inserción formal, la escolaridad no se traduce en ingreso.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 vulnerabilidad no cambia entre barrios: Kruskal-Wallis H(6) = 4.93, p = .553, y ANOVA F(6, 413) = 0.72, p = .636. Tampoco hay diferencia por género: mujeres Gs. 2.396.729 y varones Gs. 2.318.419, Welch t = 0.92, p = .358. Ambos grupos están bajo el mínimo.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Las 135 MYPEs emplean a 396 trabajadores; 389 no están en el IPS (98.4%). Va de 96.3% en gastronomía a 100% en confección textil y servicios técnicos. El 51.1% no tiene RUC y el 30.4% cobra solo en efectivo.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Trabajadores sin IPS (n = 400): ingreso insuficiente 31%, mala atención en el hospital regional 28%, desconocimiento de trámites 17%, desconfianza en la jubilación 14%, el empleador no los inscribe 10%. MYPEs: el primer motivo es el desconocimiento (23.0%), luego el costo del aporte (22.2%).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Cinco capas: captura con KoboToolbox y ODK sin conexión, ETL en Python, PostgreSQL 16 en 3FN, análisis en R y dashboard web. Las pruebas de integridad dieron 0 huérfanos, 100% de reglas CHECK cumplidas y consultas de 0,7 a 2,2 ms, bajo el umbral de 50 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esquema tiene 13 tablas y 4 vistas. La tabla derivaciones_programas guarda cada una de las 2.217 derivaciones con su canal y programa de destino: así se conecta el marketing con la base social. Sin dependencias parciales ni transitivas.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Demostración en vivo. Pestaña 1: KPIs, mapa de los 420 trabajadores y brecha por barrio; filtrar por Tuyutimí (ingreso medio Gs. 2.349.615, 87.2% bajo el mínimo). Pestaña 2: MYPEs. Pestaña 3: campaña. Pestaña 4: explorador de microdatos. Invitar a la mesa a escanear el QR para abrirlo en su celular.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Campaña “Trabajo Formal, Futuro Seguro”: 42 días (01/09 al 12/10/2026), cuatro canales y Gs. 5.504.000. Alcance 193.889, 23.869 interacciones, 8.792 consultas (5.332 RESIMPLE y 3.460 IPS) y 2.217 derivaciones: 1.340 a SUACE y 877 al IPS. Una de cada cuatro consultas terminó en derivación.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Hallazgo central de marketing: WhatsApp logró cada derivación a Gs. 589 y las ferias a Gs. 1.337. Meta Ads se llevó el 62% del presupuesto y cada derivación costó Gs. 11.678, unas 20 veces más. La pauta masiva sirve para dar a conocer, pero sin atención humana no convierte.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Cinco conclusiones, una por eje del proyecto. Destacar que la informalidad es un equilibrio de bajo nivel y que el SIG ya permite reasignar recursos hacia los canales de proximidad.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Cuatro propuestas de política pública derivadas de los datos: llevar la ventanilla a donde está el trabajador, difundir los regímenes especiales, invertir en atención directa y mantener el SIG para seguir cada trámite.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Agradecer a la mesa evaluadora y abrir la ronda de preguntas. Recordar que el dashboard queda disponible en línea con el QR.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johnnyoviedo-Library-Application-Support-Claude-scratch-workspaces-401fee59-1787-496f-82f6-5b213a4e7070-5cc7d1d2-78c6-4940-b305-a512fb614d05-scratch-2026-10-06-0e105a/ec1320da-449a-4c1b-84d8-68790ac62489/scratchpad/assets/unves_b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6032"/>
            <a:ext cx="1417320" cy="768096"/>
          </a:xfrm>
          <a:prstGeom prst="rect">
            <a:avLst/>
          </a:prstGeom>
        </p:spPr>
      </p:pic>
      <p:pic>
        <p:nvPicPr>
          <p:cNvPr id="3" name="Image 1" descr="/private/tmp/claude-501/-Users-johnnyoviedo-Library-Application-Support-Claude-scratch-workspaces-401fee59-1787-496f-82f6-5b213a4e7070-5cc7d1d2-78c6-4940-b305-a512fb614d05-scratch-2026-10-06-0e105a/ec1320da-449a-4c1b-84d8-68790ac62489/scratchpad/assets/s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137160"/>
            <a:ext cx="1371600" cy="1371600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85800" y="987552"/>
            <a:ext cx="78181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hyperlink" Target="https://gilgapy.github.io/sig-informalidad-villarrica/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hyperlink" Target="https://gilgapy.github.io/sig-informalidad-villarrica/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88720" y="274320"/>
            <a:ext cx="78638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00" b="1" i="0">
                <a:solidFill>
                  <a:schemeClr val="accent1"/>
                </a:solidFill>
              </a:rPr>
              <a:t>Facultad de Ciencias Económicas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96012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chemeClr val="accent1"/>
                </a:solidFill>
              </a:rPr>
              <a:t>Carrera de Licenciatura en Administración de Empresas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55448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3108960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chemeClr val="tx1"/>
                </a:solidFill>
              </a:rPr>
              <a:t>Proyecto Interdisciplinario · 8.° semestre · Año lectivo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566160"/>
            <a:ext cx="78638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chemeClr val="accent3"/>
                </a:solidFill>
              </a:rPr>
              <a:t>“Transformación digital y diagnóstico social en la gestión organizacional: la informalidad laboral en el municipio de Villarrica”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84124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chemeClr val="tx1"/>
                </a:solidFill>
              </a:rPr>
              <a:t>Presentado por: </a:t>
            </a:r>
            <a:r>
              <a:rPr sz="1500" b="0" i="0">
                <a:solidFill>
                  <a:schemeClr val="tx1"/>
                </a:solidFill>
              </a:rPr>
              <a:t>Yamila Belen Rojas Villanueva  ·  Aldo Ramon Fonseca</a:t>
            </a:r>
          </a:p>
          <a:p>
            <a:pPr algn="ctr">
              <a:spcBef>
                <a:spcPts val="600"/>
              </a:spcBef>
            </a:pPr>
            <a:r>
              <a:rPr sz="1500" b="1" i="0">
                <a:solidFill>
                  <a:schemeClr val="tx1"/>
                </a:solidFill>
              </a:rPr>
              <a:t>Docentes: </a:t>
            </a:r>
            <a:r>
              <a:rPr sz="1300" b="0" i="0">
                <a:solidFill>
                  <a:schemeClr val="tx1"/>
                </a:solidFill>
              </a:rPr>
              <a:t>Prof. Mag. Clara Demattei  ·  Prof. Mag. Gerardo Ortiz  ·  Prof. Dra. Ramona Demattei</a:t>
            </a:r>
          </a:p>
          <a:p>
            <a:pPr algn="ctr">
              <a:spcBef>
                <a:spcPts val="600"/>
              </a:spcBef>
            </a:pPr>
            <a:r>
              <a:rPr sz="1500" b="1" i="0">
                <a:solidFill>
                  <a:schemeClr val="tx1"/>
                </a:solidFill>
              </a:rPr>
              <a:t>Cátedras: </a:t>
            </a:r>
            <a:r>
              <a:rPr sz="1300" b="0" i="0">
                <a:solidFill>
                  <a:schemeClr val="tx1"/>
                </a:solidFill>
              </a:rPr>
              <a:t>Sistema de Información Gerencial  ·  Análisis de la Realidad Social del Paraguay  ·  Marketing Social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6035040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chemeClr val="accent5"/>
                </a:solidFill>
              </a:rPr>
              <a:t>Villarrica – Paraguay · Octubre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sz="3400" b="1">
                <a:solidFill>
                  <a:schemeClr val="accent1"/>
                </a:solidFill>
              </a:rPr>
              <a:t>Planteamiento del problema</a:t>
            </a:r>
          </a:p>
        </p:txBody>
      </p:sp>
      <p:sp>
        <p:nvSpPr>
          <p:cNvPr id="99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4652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s-PY" b="0"/>
              <a:t>2</a:t>
            </a:fld>
            <a:endParaRPr lang="es-PY"/>
          </a:p>
        </p:txBody>
      </p:sp>
      <p:sp>
        <p:nvSpPr>
          <p:cNvPr id="1000" name="Rounded Rectangle 999"/>
          <p:cNvSpPr/>
          <p:nvPr/>
        </p:nvSpPr>
        <p:spPr>
          <a:xfrm>
            <a:off x="685800" y="4782312"/>
            <a:ext cx="5257800" cy="1371600"/>
          </a:xfrm>
          <a:prstGeom prst="roundRect">
            <a:avLst>
              <a:gd name="adj" fmla="val 3719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1" name="Oval 1000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2" name="TextBox 1001"/>
          <p:cNvSpPr txBox="1"/>
          <p:nvPr/>
        </p:nvSpPr>
        <p:spPr>
          <a:xfrm>
            <a:off x="822960" y="19659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003" name="TextBox 1002"/>
          <p:cNvSpPr txBox="1"/>
          <p:nvPr/>
        </p:nvSpPr>
        <p:spPr>
          <a:xfrm>
            <a:off x="1508760" y="1947672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chemeClr val="tx2"/>
                </a:solidFill>
              </a:rPr>
              <a:t>La informalidad es estructural</a:t>
            </a:r>
          </a:p>
        </p:txBody>
      </p:sp>
      <p:sp>
        <p:nvSpPr>
          <p:cNvPr id="1004" name="TextBox 1003"/>
          <p:cNvSpPr txBox="1"/>
          <p:nvPr/>
        </p:nvSpPr>
        <p:spPr>
          <a:xfrm>
            <a:off x="1508760" y="2350008"/>
            <a:ext cx="4297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chemeClr val="tx1"/>
                </a:solidFill>
              </a:rPr>
              <a:t>Más del 60% de la población ocupada no agropecuaria del país trabaja sin aportes previsionales ni registro tributario (OIT, 2023; INE, 2024).</a:t>
            </a:r>
          </a:p>
        </p:txBody>
      </p:sp>
      <p:sp>
        <p:nvSpPr>
          <p:cNvPr id="1005" name="Oval 1004"/>
          <p:cNvSpPr/>
          <p:nvPr/>
        </p:nvSpPr>
        <p:spPr>
          <a:xfrm>
            <a:off x="822960" y="34290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6" name="TextBox 1005"/>
          <p:cNvSpPr txBox="1"/>
          <p:nvPr/>
        </p:nvSpPr>
        <p:spPr>
          <a:xfrm>
            <a:off x="822960" y="34290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007" name="TextBox 1006"/>
          <p:cNvSpPr txBox="1"/>
          <p:nvPr/>
        </p:nvSpPr>
        <p:spPr>
          <a:xfrm>
            <a:off x="1508760" y="3410712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chemeClr val="tx2"/>
                </a:solidFill>
              </a:rPr>
              <a:t>Tres cátedras, un mismo problema</a:t>
            </a:r>
          </a:p>
        </p:txBody>
      </p:sp>
      <p:sp>
        <p:nvSpPr>
          <p:cNvPr id="1008" name="TextBox 1007"/>
          <p:cNvSpPr txBox="1"/>
          <p:nvPr/>
        </p:nvSpPr>
        <p:spPr>
          <a:xfrm>
            <a:off x="1508760" y="3813048"/>
            <a:ext cx="4297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chemeClr val="tx1"/>
                </a:solidFill>
              </a:rPr>
              <a:t>Realidad Social diagnostica, SIG organiza los datos para decidir y Marketing Social interviene con una campaña basada en evidencia.</a:t>
            </a:r>
          </a:p>
        </p:txBody>
      </p:sp>
      <p:sp>
        <p:nvSpPr>
          <p:cNvPr id="1009" name="Oval 1008"/>
          <p:cNvSpPr/>
          <p:nvPr/>
        </p:nvSpPr>
        <p:spPr>
          <a:xfrm>
            <a:off x="822960" y="489204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0" name="TextBox 1009"/>
          <p:cNvSpPr txBox="1"/>
          <p:nvPr/>
        </p:nvSpPr>
        <p:spPr>
          <a:xfrm>
            <a:off x="822960" y="48920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011" name="TextBox 1010"/>
          <p:cNvSpPr txBox="1"/>
          <p:nvPr/>
        </p:nvSpPr>
        <p:spPr>
          <a:xfrm>
            <a:off x="1508760" y="4873752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chemeClr val="tx2"/>
                </a:solidFill>
              </a:rPr>
              <a:t>La pregunta</a:t>
            </a:r>
          </a:p>
        </p:txBody>
      </p:sp>
      <p:sp>
        <p:nvSpPr>
          <p:cNvPr id="1012" name="TextBox 1011"/>
          <p:cNvSpPr txBox="1"/>
          <p:nvPr/>
        </p:nvSpPr>
        <p:spPr>
          <a:xfrm>
            <a:off x="1508760" y="5276088"/>
            <a:ext cx="4297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chemeClr val="tx1"/>
                </a:solidFill>
              </a:rPr>
              <a:t>¿Cómo convertir el diagnóstico de la informalidad en Villarrica en decisiones de gestión y en acciones concretas de formalización?</a:t>
            </a:r>
          </a:p>
        </p:txBody>
      </p:sp>
      <p:sp>
        <p:nvSpPr>
          <p:cNvPr id="1013" name="Rounded Rectangle 1012"/>
          <p:cNvSpPr/>
          <p:nvPr/>
        </p:nvSpPr>
        <p:spPr>
          <a:xfrm>
            <a:off x="6217920" y="1874519"/>
            <a:ext cx="2560320" cy="1188720"/>
          </a:xfrm>
          <a:prstGeom prst="roundRect">
            <a:avLst>
              <a:gd name="adj" fmla="val 3719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4" name="TextBox 1013"/>
          <p:cNvSpPr txBox="1"/>
          <p:nvPr/>
        </p:nvSpPr>
        <p:spPr>
          <a:xfrm>
            <a:off x="6400800" y="2011679"/>
            <a:ext cx="219456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chemeClr val="accent1"/>
                </a:solidFill>
              </a:rPr>
              <a:t>420</a:t>
            </a:r>
          </a:p>
        </p:txBody>
      </p:sp>
      <p:sp>
        <p:nvSpPr>
          <p:cNvPr id="1015" name="TextBox 1014"/>
          <p:cNvSpPr txBox="1"/>
          <p:nvPr/>
        </p:nvSpPr>
        <p:spPr>
          <a:xfrm>
            <a:off x="6400800" y="2542794"/>
            <a:ext cx="2194560" cy="4198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chemeClr val="tx1"/>
                </a:solidFill>
              </a:rPr>
              <a:t>trabajadores informales relevados</a:t>
            </a:r>
          </a:p>
        </p:txBody>
      </p:sp>
      <p:sp>
        <p:nvSpPr>
          <p:cNvPr id="1016" name="Rounded Rectangle 1015"/>
          <p:cNvSpPr/>
          <p:nvPr/>
        </p:nvSpPr>
        <p:spPr>
          <a:xfrm>
            <a:off x="6217920" y="3246120"/>
            <a:ext cx="2560320" cy="1188720"/>
          </a:xfrm>
          <a:prstGeom prst="roundRect">
            <a:avLst>
              <a:gd name="adj" fmla="val 3719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7" name="TextBox 1016"/>
          <p:cNvSpPr txBox="1"/>
          <p:nvPr/>
        </p:nvSpPr>
        <p:spPr>
          <a:xfrm>
            <a:off x="6400800" y="3383279"/>
            <a:ext cx="219456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chemeClr val="accent1"/>
                </a:solidFill>
              </a:rPr>
              <a:t>135</a:t>
            </a:r>
          </a:p>
        </p:txBody>
      </p:sp>
      <p:sp>
        <p:nvSpPr>
          <p:cNvPr id="1018" name="TextBox 1017"/>
          <p:cNvSpPr txBox="1"/>
          <p:nvPr/>
        </p:nvSpPr>
        <p:spPr>
          <a:xfrm>
            <a:off x="6400800" y="3914393"/>
            <a:ext cx="2194560" cy="4198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chemeClr val="tx1"/>
                </a:solidFill>
              </a:rPr>
              <a:t>micro y pequeñas empresas (MYPEs)</a:t>
            </a:r>
          </a:p>
        </p:txBody>
      </p:sp>
      <p:sp>
        <p:nvSpPr>
          <p:cNvPr id="1019" name="Rounded Rectangle 1018"/>
          <p:cNvSpPr/>
          <p:nvPr/>
        </p:nvSpPr>
        <p:spPr>
          <a:xfrm>
            <a:off x="6217920" y="4617720"/>
            <a:ext cx="2560320" cy="1188720"/>
          </a:xfrm>
          <a:prstGeom prst="roundRect">
            <a:avLst>
              <a:gd name="adj" fmla="val 3719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0" name="TextBox 1019"/>
          <p:cNvSpPr txBox="1"/>
          <p:nvPr/>
        </p:nvSpPr>
        <p:spPr>
          <a:xfrm>
            <a:off x="6400800" y="4754880"/>
            <a:ext cx="219456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chemeClr val="accent1"/>
                </a:solidFill>
              </a:rPr>
              <a:t>7 barrios</a:t>
            </a:r>
          </a:p>
        </p:txBody>
      </p:sp>
      <p:sp>
        <p:nvSpPr>
          <p:cNvPr id="1021" name="TextBox 1020"/>
          <p:cNvSpPr txBox="1"/>
          <p:nvPr/>
        </p:nvSpPr>
        <p:spPr>
          <a:xfrm>
            <a:off x="6400800" y="5285994"/>
            <a:ext cx="2194560" cy="4198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chemeClr val="tx1"/>
                </a:solidFill>
              </a:rPr>
              <a:t>de Villarrica, Guairá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sz="3400" b="1">
                <a:solidFill>
                  <a:schemeClr val="accent1"/>
                </a:solidFill>
              </a:rPr>
              <a:t>Objetivos</a:t>
            </a:r>
          </a:p>
        </p:txBody>
      </p:sp>
      <p:sp>
        <p:nvSpPr>
          <p:cNvPr id="99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4652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s-PY" b="0"/>
              <a:t>3</a:t>
            </a:fld>
            <a:endParaRPr lang="es-PY"/>
          </a:p>
        </p:txBody>
      </p:sp>
      <p:sp>
        <p:nvSpPr>
          <p:cNvPr id="1000" name="Rounded Rectangle 999"/>
          <p:cNvSpPr/>
          <p:nvPr/>
        </p:nvSpPr>
        <p:spPr>
          <a:xfrm>
            <a:off x="685800" y="1783080"/>
            <a:ext cx="8092440" cy="1188720"/>
          </a:xfrm>
          <a:prstGeom prst="roundRect">
            <a:avLst>
              <a:gd name="adj" fmla="val 3719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1" name="TextBox 1000"/>
          <p:cNvSpPr txBox="1"/>
          <p:nvPr/>
        </p:nvSpPr>
        <p:spPr>
          <a:xfrm>
            <a:off x="914400" y="1892807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chemeClr val="accent1"/>
                </a:solidFill>
              </a:rPr>
              <a:t>Objetivo general</a:t>
            </a:r>
          </a:p>
        </p:txBody>
      </p:sp>
      <p:sp>
        <p:nvSpPr>
          <p:cNvPr id="1002" name="TextBox 1001"/>
          <p:cNvSpPr txBox="1"/>
          <p:nvPr/>
        </p:nvSpPr>
        <p:spPr>
          <a:xfrm>
            <a:off x="914400" y="2194560"/>
            <a:ext cx="7680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chemeClr val="tx1"/>
                </a:solidFill>
              </a:rPr>
              <a:t>Diagnosticar la informalidad laboral en Villarrica y diseñar un sistema de información gerencial que, articulado con una campaña de marketing social basada en datos, apoye la toma de decisiones orientadas a la formalización laboral.</a:t>
            </a:r>
          </a:p>
        </p:txBody>
      </p:sp>
      <p:sp>
        <p:nvSpPr>
          <p:cNvPr id="1003" name="TextBox 1002"/>
          <p:cNvSpPr txBox="1"/>
          <p:nvPr/>
        </p:nvSpPr>
        <p:spPr>
          <a:xfrm>
            <a:off x="685800" y="3127248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chemeClr val="accent1"/>
                </a:solidFill>
              </a:rPr>
              <a:t>Objetivos específicos</a:t>
            </a:r>
          </a:p>
        </p:txBody>
      </p:sp>
      <p:sp>
        <p:nvSpPr>
          <p:cNvPr id="1004" name="Oval 1003"/>
          <p:cNvSpPr/>
          <p:nvPr/>
        </p:nvSpPr>
        <p:spPr>
          <a:xfrm>
            <a:off x="731520" y="3538727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5" name="TextBox 1004"/>
          <p:cNvSpPr txBox="1"/>
          <p:nvPr/>
        </p:nvSpPr>
        <p:spPr>
          <a:xfrm>
            <a:off x="731520" y="3538727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006" name="TextBox 1005"/>
          <p:cNvSpPr txBox="1"/>
          <p:nvPr/>
        </p:nvSpPr>
        <p:spPr>
          <a:xfrm>
            <a:off x="1280160" y="3493008"/>
            <a:ext cx="749807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chemeClr val="tx1"/>
                </a:solidFill>
              </a:rPr>
              <a:t>Diagnosticar ingresos, seguridad social, educación, vulnerabilidad y localización de los trabajadores informales y de las MYPEs.</a:t>
            </a:r>
          </a:p>
        </p:txBody>
      </p:sp>
      <p:sp>
        <p:nvSpPr>
          <p:cNvPr id="1007" name="Oval 1006"/>
          <p:cNvSpPr/>
          <p:nvPr/>
        </p:nvSpPr>
        <p:spPr>
          <a:xfrm>
            <a:off x="731520" y="408736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8" name="TextBox 1007"/>
          <p:cNvSpPr txBox="1"/>
          <p:nvPr/>
        </p:nvSpPr>
        <p:spPr>
          <a:xfrm>
            <a:off x="731520" y="408736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009" name="TextBox 1008"/>
          <p:cNvSpPr txBox="1"/>
          <p:nvPr/>
        </p:nvSpPr>
        <p:spPr>
          <a:xfrm>
            <a:off x="1280160" y="4041648"/>
            <a:ext cx="749807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chemeClr val="tx1"/>
                </a:solidFill>
              </a:rPr>
              <a:t>Diseñar e implementar una base de datos relacional en 3FN que integre trabajadores, MYPEs, programas de formalización e indicadores sociales.</a:t>
            </a:r>
          </a:p>
        </p:txBody>
      </p:sp>
      <p:sp>
        <p:nvSpPr>
          <p:cNvPr id="1010" name="Oval 1009"/>
          <p:cNvSpPr/>
          <p:nvPr/>
        </p:nvSpPr>
        <p:spPr>
          <a:xfrm>
            <a:off x="731520" y="4636007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1" name="TextBox 1010"/>
          <p:cNvSpPr txBox="1"/>
          <p:nvPr/>
        </p:nvSpPr>
        <p:spPr>
          <a:xfrm>
            <a:off x="731520" y="4636007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012" name="TextBox 1011"/>
          <p:cNvSpPr txBox="1"/>
          <p:nvPr/>
        </p:nvSpPr>
        <p:spPr>
          <a:xfrm>
            <a:off x="1280160" y="4590288"/>
            <a:ext cx="749807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chemeClr val="tx1"/>
                </a:solidFill>
              </a:rPr>
              <a:t>Implementar formularios digitales móviles para capturar datos georreferenciados en terreno.</a:t>
            </a:r>
          </a:p>
        </p:txBody>
      </p:sp>
      <p:sp>
        <p:nvSpPr>
          <p:cNvPr id="1013" name="Oval 1012"/>
          <p:cNvSpPr/>
          <p:nvPr/>
        </p:nvSpPr>
        <p:spPr>
          <a:xfrm>
            <a:off x="731520" y="5184647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4" name="TextBox 1013"/>
          <p:cNvSpPr txBox="1"/>
          <p:nvPr/>
        </p:nvSpPr>
        <p:spPr>
          <a:xfrm>
            <a:off x="731520" y="5184647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15" name="TextBox 1014"/>
          <p:cNvSpPr txBox="1"/>
          <p:nvPr/>
        </p:nvSpPr>
        <p:spPr>
          <a:xfrm>
            <a:off x="1280160" y="5138927"/>
            <a:ext cx="749807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chemeClr val="tx1"/>
                </a:solidFill>
              </a:rPr>
              <a:t>Construir un dashboard interactivo con los indicadores clave para la toma de decisiones.</a:t>
            </a:r>
          </a:p>
        </p:txBody>
      </p:sp>
      <p:sp>
        <p:nvSpPr>
          <p:cNvPr id="1016" name="Oval 1015"/>
          <p:cNvSpPr/>
          <p:nvPr/>
        </p:nvSpPr>
        <p:spPr>
          <a:xfrm>
            <a:off x="731520" y="573328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7" name="TextBox 1016"/>
          <p:cNvSpPr txBox="1"/>
          <p:nvPr/>
        </p:nvSpPr>
        <p:spPr>
          <a:xfrm>
            <a:off x="731520" y="573328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018" name="TextBox 1017"/>
          <p:cNvSpPr txBox="1"/>
          <p:nvPr/>
        </p:nvSpPr>
        <p:spPr>
          <a:xfrm>
            <a:off x="1280160" y="5687568"/>
            <a:ext cx="749807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chemeClr val="tx1"/>
                </a:solidFill>
              </a:rPr>
              <a:t>Proponer y evaluar una campaña de marketing social basada en datos e incorporar sus métricas (alcance, consultas, derivaciones) al sistema.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sz="3400" b="1">
                <a:solidFill>
                  <a:schemeClr val="accent1"/>
                </a:solidFill>
              </a:rPr>
              <a:t>Diseño metodológico</a:t>
            </a:r>
          </a:p>
        </p:txBody>
      </p:sp>
      <p:sp>
        <p:nvSpPr>
          <p:cNvPr id="99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4652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s-PY" b="0"/>
              <a:t>4</a:t>
            </a:fld>
            <a:endParaRPr lang="es-PY"/>
          </a:p>
        </p:txBody>
      </p:sp>
      <p:graphicFrame>
        <p:nvGraphicFramePr>
          <p:cNvPr id="1000" name="Table 999"/>
          <p:cNvGraphicFramePr>
            <a:graphicFrameLocks noGrp="1"/>
          </p:cNvGraphicFramePr>
          <p:nvPr/>
        </p:nvGraphicFramePr>
        <p:xfrm>
          <a:off x="685800" y="1783080"/>
          <a:ext cx="8092440" cy="4075176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97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chemeClr val="tx2"/>
                          </a:solidFill>
                        </a:rPr>
                        <a:t>Enfoque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8DCC8"/>
                      </a:solidFill>
                      <a:prstDash val="solid"/>
                    </a:lnL>
                    <a:lnR w="9525" cap="flat" cmpd="sng" algn="ctr">
                      <a:solidFill>
                        <a:srgbClr val="C8DCC8"/>
                      </a:solidFill>
                      <a:prstDash val="solid"/>
                    </a:lnR>
                    <a:lnT w="9525" cap="flat" cmpd="sng" algn="ctr">
                      <a:solidFill>
                        <a:srgbClr val="C8DCC8"/>
                      </a:solidFill>
                      <a:prstDash val="solid"/>
                    </a:lnT>
                    <a:lnB w="9525" cap="flat" cmpd="sng" algn="ctr">
                      <a:solidFill>
                        <a:srgbClr val="C8DCC8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chemeClr val="tx1"/>
                          </a:solidFill>
                        </a:rPr>
                        <a:t>Cuantitativo, de corte transversal (setiembre–octubre de 2026)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8DCC8"/>
                      </a:solidFill>
                      <a:prstDash val="solid"/>
                    </a:lnL>
                    <a:lnR w="9525" cap="flat" cmpd="sng" algn="ctr">
                      <a:solidFill>
                        <a:srgbClr val="C8DCC8"/>
                      </a:solidFill>
                      <a:prstDash val="solid"/>
                    </a:lnR>
                    <a:lnT w="9525" cap="flat" cmpd="sng" algn="ctr">
                      <a:solidFill>
                        <a:srgbClr val="C8DCC8"/>
                      </a:solidFill>
                      <a:prstDash val="solid"/>
                    </a:lnT>
                    <a:lnB w="9525" cap="flat" cmpd="sng" algn="ctr">
                      <a:solidFill>
                        <a:srgbClr val="C8DCC8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chemeClr val="tx2"/>
                          </a:solidFill>
                        </a:rPr>
                        <a:t>Muestra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8DCC8"/>
                      </a:solidFill>
                      <a:prstDash val="solid"/>
                    </a:lnL>
                    <a:lnR w="9525" cap="flat" cmpd="sng" algn="ctr">
                      <a:solidFill>
                        <a:srgbClr val="C8DCC8"/>
                      </a:solidFill>
                      <a:prstDash val="solid"/>
                    </a:lnR>
                    <a:lnT w="9525" cap="flat" cmpd="sng" algn="ctr">
                      <a:solidFill>
                        <a:srgbClr val="C8DCC8"/>
                      </a:solidFill>
                      <a:prstDash val="solid"/>
                    </a:lnT>
                    <a:lnB w="9525" cap="flat" cmpd="sng" algn="ctr">
                      <a:solidFill>
                        <a:srgbClr val="C8DCC8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chemeClr val="tx1"/>
                          </a:solidFill>
                        </a:rPr>
                        <a:t>420 trabajadores informales y 135 unidades productivas (MYPEs)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8DCC8"/>
                      </a:solidFill>
                      <a:prstDash val="solid"/>
                    </a:lnL>
                    <a:lnR w="9525" cap="flat" cmpd="sng" algn="ctr">
                      <a:solidFill>
                        <a:srgbClr val="C8DCC8"/>
                      </a:solidFill>
                      <a:prstDash val="solid"/>
                    </a:lnR>
                    <a:lnT w="9525" cap="flat" cmpd="sng" algn="ctr">
                      <a:solidFill>
                        <a:srgbClr val="C8DCC8"/>
                      </a:solidFill>
                      <a:prstDash val="solid"/>
                    </a:lnT>
                    <a:lnB w="9525" cap="flat" cmpd="sng" algn="ctr">
                      <a:solidFill>
                        <a:srgbClr val="C8DCC8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chemeClr val="tx2"/>
                          </a:solidFill>
                        </a:rPr>
                        <a:t>Muestreo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8DCC8"/>
                      </a:solidFill>
                      <a:prstDash val="solid"/>
                    </a:lnL>
                    <a:lnR w="9525" cap="flat" cmpd="sng" algn="ctr">
                      <a:solidFill>
                        <a:srgbClr val="C8DCC8"/>
                      </a:solidFill>
                      <a:prstDash val="solid"/>
                    </a:lnR>
                    <a:lnT w="9525" cap="flat" cmpd="sng" algn="ctr">
                      <a:solidFill>
                        <a:srgbClr val="C8DCC8"/>
                      </a:solidFill>
                      <a:prstDash val="solid"/>
                    </a:lnT>
                    <a:lnB w="9525" cap="flat" cmpd="sng" algn="ctr">
                      <a:solidFill>
                        <a:srgbClr val="C8DCC8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chemeClr val="tx1"/>
                          </a:solidFill>
                        </a:rPr>
                        <a:t>Probabilístico estratificado por conglomerados en 7 barrios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8DCC8"/>
                      </a:solidFill>
                      <a:prstDash val="solid"/>
                    </a:lnL>
                    <a:lnR w="9525" cap="flat" cmpd="sng" algn="ctr">
                      <a:solidFill>
                        <a:srgbClr val="C8DCC8"/>
                      </a:solidFill>
                      <a:prstDash val="solid"/>
                    </a:lnR>
                    <a:lnT w="9525" cap="flat" cmpd="sng" algn="ctr">
                      <a:solidFill>
                        <a:srgbClr val="C8DCC8"/>
                      </a:solidFill>
                      <a:prstDash val="solid"/>
                    </a:lnT>
                    <a:lnB w="9525" cap="flat" cmpd="sng" algn="ctr">
                      <a:solidFill>
                        <a:srgbClr val="C8DCC8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chemeClr val="tx2"/>
                          </a:solidFill>
                        </a:rPr>
                        <a:t>Margen de error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8DCC8"/>
                      </a:solidFill>
                      <a:prstDash val="solid"/>
                    </a:lnL>
                    <a:lnR w="9525" cap="flat" cmpd="sng" algn="ctr">
                      <a:solidFill>
                        <a:srgbClr val="C8DCC8"/>
                      </a:solidFill>
                      <a:prstDash val="solid"/>
                    </a:lnR>
                    <a:lnT w="9525" cap="flat" cmpd="sng" algn="ctr">
                      <a:solidFill>
                        <a:srgbClr val="C8DCC8"/>
                      </a:solidFill>
                      <a:prstDash val="solid"/>
                    </a:lnT>
                    <a:lnB w="9525" cap="flat" cmpd="sng" algn="ctr">
                      <a:solidFill>
                        <a:srgbClr val="C8DCC8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chemeClr val="tx1"/>
                          </a:solidFill>
                        </a:rPr>
                        <a:t>±4.8% con 95% de confianza (p = 0.5)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8DCC8"/>
                      </a:solidFill>
                      <a:prstDash val="solid"/>
                    </a:lnL>
                    <a:lnR w="9525" cap="flat" cmpd="sng" algn="ctr">
                      <a:solidFill>
                        <a:srgbClr val="C8DCC8"/>
                      </a:solidFill>
                      <a:prstDash val="solid"/>
                    </a:lnR>
                    <a:lnT w="9525" cap="flat" cmpd="sng" algn="ctr">
                      <a:solidFill>
                        <a:srgbClr val="C8DCC8"/>
                      </a:solidFill>
                      <a:prstDash val="solid"/>
                    </a:lnT>
                    <a:lnB w="9525" cap="flat" cmpd="sng" algn="ctr">
                      <a:solidFill>
                        <a:srgbClr val="C8DCC8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chemeClr val="tx2"/>
                          </a:solidFill>
                        </a:rPr>
                        <a:t>Instrumento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8DCC8"/>
                      </a:solidFill>
                      <a:prstDash val="solid"/>
                    </a:lnL>
                    <a:lnR w="9525" cap="flat" cmpd="sng" algn="ctr">
                      <a:solidFill>
                        <a:srgbClr val="C8DCC8"/>
                      </a:solidFill>
                      <a:prstDash val="solid"/>
                    </a:lnR>
                    <a:lnT w="9525" cap="flat" cmpd="sng" algn="ctr">
                      <a:solidFill>
                        <a:srgbClr val="C8DCC8"/>
                      </a:solidFill>
                      <a:prstDash val="solid"/>
                    </a:lnT>
                    <a:lnB w="9525" cap="flat" cmpd="sng" algn="ctr">
                      <a:solidFill>
                        <a:srgbClr val="C8DCC8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chemeClr val="tx1"/>
                          </a:solidFill>
                        </a:rPr>
                        <a:t>Formulario XLSForm en KoboToolbox, aplicado con ODK Collect en Android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8DCC8"/>
                      </a:solidFill>
                      <a:prstDash val="solid"/>
                    </a:lnL>
                    <a:lnR w="9525" cap="flat" cmpd="sng" algn="ctr">
                      <a:solidFill>
                        <a:srgbClr val="C8DCC8"/>
                      </a:solidFill>
                      <a:prstDash val="solid"/>
                    </a:lnR>
                    <a:lnT w="9525" cap="flat" cmpd="sng" algn="ctr">
                      <a:solidFill>
                        <a:srgbClr val="C8DCC8"/>
                      </a:solidFill>
                      <a:prstDash val="solid"/>
                    </a:lnT>
                    <a:lnB w="9525" cap="flat" cmpd="sng" algn="ctr">
                      <a:solidFill>
                        <a:srgbClr val="C8DCC8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chemeClr val="tx2"/>
                          </a:solidFill>
                        </a:rPr>
                        <a:t>Control de calidad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8DCC8"/>
                      </a:solidFill>
                      <a:prstDash val="solid"/>
                    </a:lnL>
                    <a:lnR w="9525" cap="flat" cmpd="sng" algn="ctr">
                      <a:solidFill>
                        <a:srgbClr val="C8DCC8"/>
                      </a:solidFill>
                      <a:prstDash val="solid"/>
                    </a:lnR>
                    <a:lnT w="9525" cap="flat" cmpd="sng" algn="ctr">
                      <a:solidFill>
                        <a:srgbClr val="C8DCC8"/>
                      </a:solidFill>
                      <a:prstDash val="solid"/>
                    </a:lnT>
                    <a:lnB w="9525" cap="flat" cmpd="sng" algn="ctr">
                      <a:solidFill>
                        <a:srgbClr val="C8DCC8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chemeClr val="tx1"/>
                          </a:solidFill>
                        </a:rPr>
                        <a:t>GPS con precisión &lt; 10 m, validación de rangos, modo sin conexión, hora UTC-3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8DCC8"/>
                      </a:solidFill>
                      <a:prstDash val="solid"/>
                    </a:lnL>
                    <a:lnR w="9525" cap="flat" cmpd="sng" algn="ctr">
                      <a:solidFill>
                        <a:srgbClr val="C8DCC8"/>
                      </a:solidFill>
                      <a:prstDash val="solid"/>
                    </a:lnR>
                    <a:lnT w="9525" cap="flat" cmpd="sng" algn="ctr">
                      <a:solidFill>
                        <a:srgbClr val="C8DCC8"/>
                      </a:solidFill>
                      <a:prstDash val="solid"/>
                    </a:lnT>
                    <a:lnB w="9525" cap="flat" cmpd="sng" algn="ctr">
                      <a:solidFill>
                        <a:srgbClr val="C8DCC8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chemeClr val="tx2"/>
                          </a:solidFill>
                        </a:rPr>
                        <a:t>Procesamiento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8DCC8"/>
                      </a:solidFill>
                      <a:prstDash val="solid"/>
                    </a:lnL>
                    <a:lnR w="9525" cap="flat" cmpd="sng" algn="ctr">
                      <a:solidFill>
                        <a:srgbClr val="C8DCC8"/>
                      </a:solidFill>
                      <a:prstDash val="solid"/>
                    </a:lnR>
                    <a:lnT w="9525" cap="flat" cmpd="sng" algn="ctr">
                      <a:solidFill>
                        <a:srgbClr val="C8DCC8"/>
                      </a:solidFill>
                      <a:prstDash val="solid"/>
                    </a:lnT>
                    <a:lnB w="9525" cap="flat" cmpd="sng" algn="ctr">
                      <a:solidFill>
                        <a:srgbClr val="C8DCC8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chemeClr val="tx1"/>
                          </a:solidFill>
                        </a:rPr>
                        <a:t>Pipeline ETL en Python → PostgreSQL 16 normalizado en 3FN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8DCC8"/>
                      </a:solidFill>
                      <a:prstDash val="solid"/>
                    </a:lnL>
                    <a:lnR w="9525" cap="flat" cmpd="sng" algn="ctr">
                      <a:solidFill>
                        <a:srgbClr val="C8DCC8"/>
                      </a:solidFill>
                      <a:prstDash val="solid"/>
                    </a:lnR>
                    <a:lnT w="9525" cap="flat" cmpd="sng" algn="ctr">
                      <a:solidFill>
                        <a:srgbClr val="C8DCC8"/>
                      </a:solidFill>
                      <a:prstDash val="solid"/>
                    </a:lnT>
                    <a:lnB w="9525" cap="flat" cmpd="sng" algn="ctr">
                      <a:solidFill>
                        <a:srgbClr val="C8DCC8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chemeClr val="tx2"/>
                          </a:solidFill>
                        </a:rPr>
                        <a:t>Análisis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8DCC8"/>
                      </a:solidFill>
                      <a:prstDash val="solid"/>
                    </a:lnL>
                    <a:lnR w="9525" cap="flat" cmpd="sng" algn="ctr">
                      <a:solidFill>
                        <a:srgbClr val="C8DCC8"/>
                      </a:solidFill>
                      <a:prstDash val="solid"/>
                    </a:lnR>
                    <a:lnT w="9525" cap="flat" cmpd="sng" algn="ctr">
                      <a:solidFill>
                        <a:srgbClr val="C8DCC8"/>
                      </a:solidFill>
                      <a:prstDash val="solid"/>
                    </a:lnT>
                    <a:lnB w="9525" cap="flat" cmpd="sng" algn="ctr">
                      <a:solidFill>
                        <a:srgbClr val="C8DCC8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chemeClr val="tx1"/>
                          </a:solidFill>
                        </a:rPr>
                        <a:t>En R: Pearson, Spearman, Mincer, ANOVA, Kruskal-Wallis, Welch y Mann-Whitney (α = .05)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8DCC8"/>
                      </a:solidFill>
                      <a:prstDash val="solid"/>
                    </a:lnL>
                    <a:lnR w="9525" cap="flat" cmpd="sng" algn="ctr">
                      <a:solidFill>
                        <a:srgbClr val="C8DCC8"/>
                      </a:solidFill>
                      <a:prstDash val="solid"/>
                    </a:lnR>
                    <a:lnT w="9525" cap="flat" cmpd="sng" algn="ctr">
                      <a:solidFill>
                        <a:srgbClr val="C8DCC8"/>
                      </a:solidFill>
                      <a:prstDash val="solid"/>
                    </a:lnT>
                    <a:lnB w="9525" cap="flat" cmpd="sng" algn="ctr">
                      <a:solidFill>
                        <a:srgbClr val="C8DCC8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chemeClr val="tx2"/>
                          </a:solidFill>
                        </a:rPr>
                        <a:t>Ética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8DCC8"/>
                      </a:solidFill>
                      <a:prstDash val="solid"/>
                    </a:lnL>
                    <a:lnR w="9525" cap="flat" cmpd="sng" algn="ctr">
                      <a:solidFill>
                        <a:srgbClr val="C8DCC8"/>
                      </a:solidFill>
                      <a:prstDash val="solid"/>
                    </a:lnR>
                    <a:lnT w="9525" cap="flat" cmpd="sng" algn="ctr">
                      <a:solidFill>
                        <a:srgbClr val="C8DCC8"/>
                      </a:solidFill>
                      <a:prstDash val="solid"/>
                    </a:lnT>
                    <a:lnB w="9525" cap="flat" cmpd="sng" algn="ctr">
                      <a:solidFill>
                        <a:srgbClr val="C8DCC8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chemeClr val="tx1"/>
                          </a:solidFill>
                        </a:rPr>
                        <a:t>Consentimiento informado; códigos anónimos (TRAB-0001, MYPE-VIL-001)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8DCC8"/>
                      </a:solidFill>
                      <a:prstDash val="solid"/>
                    </a:lnL>
                    <a:lnR w="9525" cap="flat" cmpd="sng" algn="ctr">
                      <a:solidFill>
                        <a:srgbClr val="C8DCC8"/>
                      </a:solidFill>
                      <a:prstDash val="solid"/>
                    </a:lnR>
                    <a:lnT w="9525" cap="flat" cmpd="sng" algn="ctr">
                      <a:solidFill>
                        <a:srgbClr val="C8DCC8"/>
                      </a:solidFill>
                      <a:prstDash val="solid"/>
                    </a:lnT>
                    <a:lnB w="9525" cap="flat" cmpd="sng" algn="ctr">
                      <a:solidFill>
                        <a:srgbClr val="C8DCC8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sz="3400" b="1">
                <a:solidFill>
                  <a:schemeClr val="accent1"/>
                </a:solidFill>
              </a:rPr>
              <a:t>Principales hallazgos</a:t>
            </a:r>
          </a:p>
        </p:txBody>
      </p:sp>
      <p:sp>
        <p:nvSpPr>
          <p:cNvPr id="99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4652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s-PY" b="0"/>
              <a:t>5</a:t>
            </a:fld>
            <a:endParaRPr lang="es-PY"/>
          </a:p>
        </p:txBody>
      </p:sp>
      <p:sp>
        <p:nvSpPr>
          <p:cNvPr id="1000" name="Rounded Rectangle 999"/>
          <p:cNvSpPr/>
          <p:nvPr/>
        </p:nvSpPr>
        <p:spPr>
          <a:xfrm>
            <a:off x="685800" y="1920240"/>
            <a:ext cx="3931920" cy="1965960"/>
          </a:xfrm>
          <a:prstGeom prst="roundRect">
            <a:avLst>
              <a:gd name="adj" fmla="val 3719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1" name="TextBox 1000"/>
          <p:cNvSpPr txBox="1"/>
          <p:nvPr/>
        </p:nvSpPr>
        <p:spPr>
          <a:xfrm>
            <a:off x="960120" y="2125980"/>
            <a:ext cx="3383279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chemeClr val="accent1"/>
                </a:solidFill>
              </a:rPr>
              <a:t>85.24%</a:t>
            </a:r>
          </a:p>
        </p:txBody>
      </p:sp>
      <p:sp>
        <p:nvSpPr>
          <p:cNvPr id="1002" name="TextBox 1001"/>
          <p:cNvSpPr txBox="1"/>
          <p:nvPr/>
        </p:nvSpPr>
        <p:spPr>
          <a:xfrm>
            <a:off x="960120" y="2752344"/>
            <a:ext cx="3383279" cy="955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chemeClr val="tx1"/>
                </a:solidFill>
              </a:rPr>
              <a:t>de los trabajadores gana menos que el salario mínimo legal (Gs. 3.044.000)</a:t>
            </a:r>
          </a:p>
        </p:txBody>
      </p:sp>
      <p:sp>
        <p:nvSpPr>
          <p:cNvPr id="1003" name="Rounded Rectangle 1002"/>
          <p:cNvSpPr/>
          <p:nvPr/>
        </p:nvSpPr>
        <p:spPr>
          <a:xfrm>
            <a:off x="4800600" y="1920240"/>
            <a:ext cx="3931920" cy="1965960"/>
          </a:xfrm>
          <a:prstGeom prst="roundRect">
            <a:avLst>
              <a:gd name="adj" fmla="val 3719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4" name="TextBox 1003"/>
          <p:cNvSpPr txBox="1"/>
          <p:nvPr/>
        </p:nvSpPr>
        <p:spPr>
          <a:xfrm>
            <a:off x="5074920" y="2125980"/>
            <a:ext cx="3383279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chemeClr val="accent1"/>
                </a:solidFill>
              </a:rPr>
              <a:t>95.24%</a:t>
            </a:r>
          </a:p>
        </p:txBody>
      </p:sp>
      <p:sp>
        <p:nvSpPr>
          <p:cNvPr id="1005" name="TextBox 1004"/>
          <p:cNvSpPr txBox="1"/>
          <p:nvPr/>
        </p:nvSpPr>
        <p:spPr>
          <a:xfrm>
            <a:off x="5074920" y="2752344"/>
            <a:ext cx="3383279" cy="955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chemeClr val="tx1"/>
                </a:solidFill>
              </a:rPr>
              <a:t>no tiene seguro médico ni jubilación en el IPS</a:t>
            </a:r>
          </a:p>
        </p:txBody>
      </p:sp>
      <p:sp>
        <p:nvSpPr>
          <p:cNvPr id="1006" name="Rounded Rectangle 1005"/>
          <p:cNvSpPr/>
          <p:nvPr/>
        </p:nvSpPr>
        <p:spPr>
          <a:xfrm>
            <a:off x="685800" y="4069080"/>
            <a:ext cx="3931920" cy="1965960"/>
          </a:xfrm>
          <a:prstGeom prst="roundRect">
            <a:avLst>
              <a:gd name="adj" fmla="val 3719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7" name="TextBox 1006"/>
          <p:cNvSpPr txBox="1"/>
          <p:nvPr/>
        </p:nvSpPr>
        <p:spPr>
          <a:xfrm>
            <a:off x="960120" y="4274820"/>
            <a:ext cx="3383279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chemeClr val="accent1"/>
                </a:solidFill>
              </a:rPr>
              <a:t>98.4%</a:t>
            </a:r>
          </a:p>
        </p:txBody>
      </p:sp>
      <p:sp>
        <p:nvSpPr>
          <p:cNvPr id="1008" name="TextBox 1007"/>
          <p:cNvSpPr txBox="1"/>
          <p:nvPr/>
        </p:nvSpPr>
        <p:spPr>
          <a:xfrm>
            <a:off x="960120" y="4901183"/>
            <a:ext cx="3383279" cy="955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chemeClr val="tx1"/>
                </a:solidFill>
              </a:rPr>
              <a:t>de los empleados de las MYPEs no está inscripto en el IPS</a:t>
            </a:r>
          </a:p>
        </p:txBody>
      </p:sp>
      <p:sp>
        <p:nvSpPr>
          <p:cNvPr id="1009" name="Rounded Rectangle 1008"/>
          <p:cNvSpPr/>
          <p:nvPr/>
        </p:nvSpPr>
        <p:spPr>
          <a:xfrm>
            <a:off x="4800600" y="4069080"/>
            <a:ext cx="3931920" cy="1965960"/>
          </a:xfrm>
          <a:prstGeom prst="roundRect">
            <a:avLst>
              <a:gd name="adj" fmla="val 3719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0" name="TextBox 1009"/>
          <p:cNvSpPr txBox="1"/>
          <p:nvPr/>
        </p:nvSpPr>
        <p:spPr>
          <a:xfrm>
            <a:off x="5074920" y="4274820"/>
            <a:ext cx="3383279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chemeClr val="accent2"/>
                </a:solidFill>
              </a:rPr>
              <a:t>2.217</a:t>
            </a:r>
          </a:p>
        </p:txBody>
      </p:sp>
      <p:sp>
        <p:nvSpPr>
          <p:cNvPr id="1011" name="TextBox 1010"/>
          <p:cNvSpPr txBox="1"/>
          <p:nvPr/>
        </p:nvSpPr>
        <p:spPr>
          <a:xfrm>
            <a:off x="5074920" y="4901183"/>
            <a:ext cx="3383279" cy="955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chemeClr val="bg1"/>
                </a:solidFill>
              </a:rPr>
              <a:t>derivaciones efectivas a SUACE e IPS en 42 días de campaña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sz="3400" b="1">
                <a:solidFill>
                  <a:schemeClr val="accent1"/>
                </a:solidFill>
              </a:rPr>
              <a:t>Brecha salarial por barrio</a:t>
            </a:r>
          </a:p>
        </p:txBody>
      </p:sp>
      <p:sp>
        <p:nvSpPr>
          <p:cNvPr id="99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4652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s-PY" b="0"/>
              <a:t>6</a:t>
            </a:fld>
            <a:endParaRPr lang="es-PY"/>
          </a:p>
        </p:txBody>
      </p:sp>
      <p:graphicFrame>
        <p:nvGraphicFramePr>
          <p:cNvPr id="1000" name="Chart 999"/>
          <p:cNvGraphicFramePr>
            <a:graphicFrameLocks noGrp="1"/>
          </p:cNvGraphicFramePr>
          <p:nvPr/>
        </p:nvGraphicFramePr>
        <p:xfrm>
          <a:off x="685800" y="1783080"/>
          <a:ext cx="50292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01" name="Rounded Rectangle 1000"/>
          <p:cNvSpPr/>
          <p:nvPr/>
        </p:nvSpPr>
        <p:spPr>
          <a:xfrm>
            <a:off x="5943600" y="1874519"/>
            <a:ext cx="2834640" cy="1207008"/>
          </a:xfrm>
          <a:prstGeom prst="roundRect">
            <a:avLst>
              <a:gd name="adj" fmla="val 3719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2" name="TextBox 1001"/>
          <p:cNvSpPr txBox="1"/>
          <p:nvPr/>
        </p:nvSpPr>
        <p:spPr>
          <a:xfrm>
            <a:off x="6126480" y="2011679"/>
            <a:ext cx="2468880" cy="380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chemeClr val="accent1"/>
                </a:solidFill>
              </a:rPr>
              <a:t>Gs. 2.338.369</a:t>
            </a:r>
          </a:p>
        </p:txBody>
      </p:sp>
      <p:sp>
        <p:nvSpPr>
          <p:cNvPr id="1003" name="TextBox 1002"/>
          <p:cNvSpPr txBox="1"/>
          <p:nvPr/>
        </p:nvSpPr>
        <p:spPr>
          <a:xfrm>
            <a:off x="6126480" y="2447543"/>
            <a:ext cx="246888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chemeClr val="tx1"/>
                </a:solidFill>
              </a:rPr>
              <a:t>ingreso medio mensual (N = 420)</a:t>
            </a:r>
          </a:p>
        </p:txBody>
      </p:sp>
      <p:sp>
        <p:nvSpPr>
          <p:cNvPr id="1004" name="Rounded Rectangle 1003"/>
          <p:cNvSpPr/>
          <p:nvPr/>
        </p:nvSpPr>
        <p:spPr>
          <a:xfrm>
            <a:off x="5943600" y="3246120"/>
            <a:ext cx="2834640" cy="1207008"/>
          </a:xfrm>
          <a:prstGeom prst="roundRect">
            <a:avLst>
              <a:gd name="adj" fmla="val 3719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5" name="TextBox 1004"/>
          <p:cNvSpPr txBox="1"/>
          <p:nvPr/>
        </p:nvSpPr>
        <p:spPr>
          <a:xfrm>
            <a:off x="6126480" y="3383279"/>
            <a:ext cx="2468880" cy="380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chemeClr val="accent1"/>
                </a:solidFill>
              </a:rPr>
              <a:t>−Gs. 705.631</a:t>
            </a:r>
          </a:p>
        </p:txBody>
      </p:sp>
      <p:sp>
        <p:nvSpPr>
          <p:cNvPr id="1006" name="TextBox 1005"/>
          <p:cNvSpPr txBox="1"/>
          <p:nvPr/>
        </p:nvSpPr>
        <p:spPr>
          <a:xfrm>
            <a:off x="6126480" y="3819143"/>
            <a:ext cx="246888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chemeClr val="tx1"/>
                </a:solidFill>
              </a:rPr>
              <a:t>brecha media frente al salario mínimo</a:t>
            </a:r>
          </a:p>
        </p:txBody>
      </p:sp>
      <p:sp>
        <p:nvSpPr>
          <p:cNvPr id="1007" name="Rounded Rectangle 1006"/>
          <p:cNvSpPr/>
          <p:nvPr/>
        </p:nvSpPr>
        <p:spPr>
          <a:xfrm>
            <a:off x="5943600" y="4617720"/>
            <a:ext cx="2834640" cy="1207008"/>
          </a:xfrm>
          <a:prstGeom prst="roundRect">
            <a:avLst>
              <a:gd name="adj" fmla="val 3719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8" name="TextBox 1007"/>
          <p:cNvSpPr txBox="1"/>
          <p:nvPr/>
        </p:nvSpPr>
        <p:spPr>
          <a:xfrm>
            <a:off x="6126480" y="4754880"/>
            <a:ext cx="2468880" cy="380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chemeClr val="accent2"/>
                </a:solidFill>
              </a:rPr>
              <a:t>358 de 420</a:t>
            </a:r>
          </a:p>
        </p:txBody>
      </p:sp>
      <p:sp>
        <p:nvSpPr>
          <p:cNvPr id="1009" name="TextBox 1008"/>
          <p:cNvSpPr txBox="1"/>
          <p:nvPr/>
        </p:nvSpPr>
        <p:spPr>
          <a:xfrm>
            <a:off x="6126480" y="5190744"/>
            <a:ext cx="246888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chemeClr val="bg1"/>
                </a:solidFill>
              </a:rPr>
              <a:t>trabajadores ganan menos que el mínimo legal (85.24%)</a:t>
            </a:r>
          </a:p>
        </p:txBody>
      </p:sp>
      <p:sp>
        <p:nvSpPr>
          <p:cNvPr id="1010" name="TextBox 1009"/>
          <p:cNvSpPr txBox="1"/>
          <p:nvPr/>
        </p:nvSpPr>
        <p:spPr>
          <a:xfrm>
            <a:off x="685800" y="6263640"/>
            <a:ext cx="8092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chemeClr val="accent5"/>
                </a:solidFill>
              </a:rPr>
              <a:t>Fuente: relevamiento KoboToolbox/ODK, UNVES (2026). Salario mínimo legal: Gs. 3.044.000.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sz="3400" b="1">
                <a:solidFill>
                  <a:schemeClr val="accent1"/>
                </a:solidFill>
              </a:rPr>
              <a:t>La trampa de la informalidad</a:t>
            </a:r>
          </a:p>
        </p:txBody>
      </p:sp>
      <p:sp>
        <p:nvSpPr>
          <p:cNvPr id="99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4652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s-PY" b="0"/>
              <a:t>7</a:t>
            </a:fld>
            <a:endParaRPr lang="es-PY"/>
          </a:p>
        </p:txBody>
      </p:sp>
      <p:pic>
        <p:nvPicPr>
          <p:cNvPr id="1000" name="Picture 999" descr="figura1_correlacion_escolaridad_ingres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83080"/>
            <a:ext cx="5074920" cy="3383280"/>
          </a:xfrm>
          <a:prstGeom prst="rect">
            <a:avLst/>
          </a:prstGeom>
        </p:spPr>
      </p:pic>
      <p:sp>
        <p:nvSpPr>
          <p:cNvPr id="1001" name="Rounded Rectangle 1000"/>
          <p:cNvSpPr/>
          <p:nvPr/>
        </p:nvSpPr>
        <p:spPr>
          <a:xfrm>
            <a:off x="5989320" y="1783080"/>
            <a:ext cx="2788920" cy="1051560"/>
          </a:xfrm>
          <a:prstGeom prst="roundRect">
            <a:avLst>
              <a:gd name="adj" fmla="val 3719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2" name="TextBox 1001"/>
          <p:cNvSpPr txBox="1"/>
          <p:nvPr/>
        </p:nvSpPr>
        <p:spPr>
          <a:xfrm>
            <a:off x="6153912" y="1906524"/>
            <a:ext cx="2459736" cy="380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chemeClr val="accent1"/>
                </a:solidFill>
              </a:rPr>
              <a:t>r = 0.0092</a:t>
            </a:r>
          </a:p>
        </p:txBody>
      </p:sp>
      <p:sp>
        <p:nvSpPr>
          <p:cNvPr id="1003" name="TextBox 1002"/>
          <p:cNvSpPr txBox="1"/>
          <p:nvPr/>
        </p:nvSpPr>
        <p:spPr>
          <a:xfrm>
            <a:off x="6153912" y="2342388"/>
            <a:ext cx="2459736" cy="407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chemeClr val="tx1"/>
                </a:solidFill>
              </a:rPr>
              <a:t>correlación de Pearson, p = .850</a:t>
            </a:r>
          </a:p>
        </p:txBody>
      </p:sp>
      <p:sp>
        <p:nvSpPr>
          <p:cNvPr id="1004" name="Rounded Rectangle 1003"/>
          <p:cNvSpPr/>
          <p:nvPr/>
        </p:nvSpPr>
        <p:spPr>
          <a:xfrm>
            <a:off x="5989320" y="2953512"/>
            <a:ext cx="2788920" cy="1051560"/>
          </a:xfrm>
          <a:prstGeom prst="roundRect">
            <a:avLst>
              <a:gd name="adj" fmla="val 3719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5" name="TextBox 1004"/>
          <p:cNvSpPr txBox="1"/>
          <p:nvPr/>
        </p:nvSpPr>
        <p:spPr>
          <a:xfrm>
            <a:off x="6153912" y="3076956"/>
            <a:ext cx="2459736" cy="380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chemeClr val="accent1"/>
                </a:solidFill>
              </a:rPr>
              <a:t>p = .8485</a:t>
            </a:r>
          </a:p>
        </p:txBody>
      </p:sp>
      <p:sp>
        <p:nvSpPr>
          <p:cNvPr id="1006" name="TextBox 1005"/>
          <p:cNvSpPr txBox="1"/>
          <p:nvPr/>
        </p:nvSpPr>
        <p:spPr>
          <a:xfrm>
            <a:off x="6153912" y="3512820"/>
            <a:ext cx="2459736" cy="407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chemeClr val="tx1"/>
                </a:solidFill>
              </a:rPr>
              <a:t>el modelo de Mincer no es significativo: F(4, 415) = 0.34</a:t>
            </a:r>
          </a:p>
        </p:txBody>
      </p:sp>
      <p:sp>
        <p:nvSpPr>
          <p:cNvPr id="1007" name="Rounded Rectangle 1006"/>
          <p:cNvSpPr/>
          <p:nvPr/>
        </p:nvSpPr>
        <p:spPr>
          <a:xfrm>
            <a:off x="5989320" y="4123944"/>
            <a:ext cx="2788920" cy="1051560"/>
          </a:xfrm>
          <a:prstGeom prst="roundRect">
            <a:avLst>
              <a:gd name="adj" fmla="val 3719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8" name="TextBox 1007"/>
          <p:cNvSpPr txBox="1"/>
          <p:nvPr/>
        </p:nvSpPr>
        <p:spPr>
          <a:xfrm>
            <a:off x="6153912" y="4247388"/>
            <a:ext cx="2459736" cy="380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chemeClr val="accent1"/>
                </a:solidFill>
              </a:rPr>
              <a:t>β₁ = 0.0004</a:t>
            </a:r>
          </a:p>
        </p:txBody>
      </p:sp>
      <p:sp>
        <p:nvSpPr>
          <p:cNvPr id="1009" name="TextBox 1008"/>
          <p:cNvSpPr txBox="1"/>
          <p:nvPr/>
        </p:nvSpPr>
        <p:spPr>
          <a:xfrm>
            <a:off x="6153912" y="4683251"/>
            <a:ext cx="2459736" cy="407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chemeClr val="tx1"/>
                </a:solidFill>
              </a:rPr>
              <a:t>un año más de estudio no mueve el ingreso (p = .920)</a:t>
            </a:r>
          </a:p>
        </p:txBody>
      </p:sp>
      <p:sp>
        <p:nvSpPr>
          <p:cNvPr id="1010" name="Rounded Rectangle 1009"/>
          <p:cNvSpPr/>
          <p:nvPr/>
        </p:nvSpPr>
        <p:spPr>
          <a:xfrm>
            <a:off x="685800" y="5349240"/>
            <a:ext cx="8092440" cy="731520"/>
          </a:xfrm>
          <a:prstGeom prst="roundRect">
            <a:avLst>
              <a:gd name="adj" fmla="val 3719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1" name="TextBox 1010"/>
          <p:cNvSpPr txBox="1"/>
          <p:nvPr/>
        </p:nvSpPr>
        <p:spPr>
          <a:xfrm>
            <a:off x="914400" y="5349240"/>
            <a:ext cx="76809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chemeClr val="bg1"/>
                </a:solidFill>
              </a:rPr>
              <a:t>Sin capital de trabajo, certificación ni inserción formal, estudiar más no se traduce en mayor ingreso.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sz="3400" b="1">
                <a:solidFill>
                  <a:schemeClr val="accent1"/>
                </a:solidFill>
              </a:rPr>
              <a:t>Territorio y género</a:t>
            </a:r>
          </a:p>
        </p:txBody>
      </p:sp>
      <p:sp>
        <p:nvSpPr>
          <p:cNvPr id="99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4652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s-PY" b="0"/>
              <a:t>8</a:t>
            </a:fld>
            <a:endParaRPr lang="es-PY"/>
          </a:p>
        </p:txBody>
      </p:sp>
      <p:pic>
        <p:nvPicPr>
          <p:cNvPr id="1000" name="Picture 999" descr="figura2_vulnerabilidad_social_barri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83080"/>
            <a:ext cx="3931920" cy="2621280"/>
          </a:xfrm>
          <a:prstGeom prst="rect">
            <a:avLst/>
          </a:prstGeom>
        </p:spPr>
      </p:pic>
      <p:pic>
        <p:nvPicPr>
          <p:cNvPr id="1001" name="Picture 1000" descr="figura3_brecha_ingreso_genero_minim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783080"/>
            <a:ext cx="3931920" cy="2621280"/>
          </a:xfrm>
          <a:prstGeom prst="rect">
            <a:avLst/>
          </a:prstGeom>
        </p:spPr>
      </p:pic>
      <p:sp>
        <p:nvSpPr>
          <p:cNvPr id="1002" name="Rounded Rectangle 1001"/>
          <p:cNvSpPr/>
          <p:nvPr/>
        </p:nvSpPr>
        <p:spPr>
          <a:xfrm>
            <a:off x="685800" y="4544568"/>
            <a:ext cx="3931920" cy="987552"/>
          </a:xfrm>
          <a:prstGeom prst="roundRect">
            <a:avLst>
              <a:gd name="adj" fmla="val 3719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3" name="TextBox 1002"/>
          <p:cNvSpPr txBox="1"/>
          <p:nvPr/>
        </p:nvSpPr>
        <p:spPr>
          <a:xfrm>
            <a:off x="868680" y="463600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chemeClr val="tx2"/>
                </a:solidFill>
              </a:rPr>
              <a:t>Sin diferencias entre barrios</a:t>
            </a:r>
          </a:p>
        </p:txBody>
      </p:sp>
      <p:sp>
        <p:nvSpPr>
          <p:cNvPr id="1004" name="TextBox 1003"/>
          <p:cNvSpPr txBox="1"/>
          <p:nvPr/>
        </p:nvSpPr>
        <p:spPr>
          <a:xfrm>
            <a:off x="868680" y="4956048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chemeClr val="tx1"/>
                </a:solidFill>
              </a:rPr>
              <a:t>Kruskal-Wallis: H(6) = 4.93, p = .553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chemeClr val="tx1"/>
                </a:solidFill>
              </a:rPr>
              <a:t>ANOVA: F(6, 413) = 0.72, p = .636</a:t>
            </a:r>
          </a:p>
        </p:txBody>
      </p:sp>
      <p:sp>
        <p:nvSpPr>
          <p:cNvPr id="1005" name="Rounded Rectangle 1004"/>
          <p:cNvSpPr/>
          <p:nvPr/>
        </p:nvSpPr>
        <p:spPr>
          <a:xfrm>
            <a:off x="4846320" y="4544568"/>
            <a:ext cx="3931920" cy="987552"/>
          </a:xfrm>
          <a:prstGeom prst="roundRect">
            <a:avLst>
              <a:gd name="adj" fmla="val 3719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6" name="TextBox 1005"/>
          <p:cNvSpPr txBox="1"/>
          <p:nvPr/>
        </p:nvSpPr>
        <p:spPr>
          <a:xfrm>
            <a:off x="5029200" y="463600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chemeClr val="tx2"/>
                </a:solidFill>
              </a:rPr>
              <a:t>Sin diferencias por género</a:t>
            </a:r>
          </a:p>
        </p:txBody>
      </p:sp>
      <p:sp>
        <p:nvSpPr>
          <p:cNvPr id="1007" name="TextBox 1006"/>
          <p:cNvSpPr txBox="1"/>
          <p:nvPr/>
        </p:nvSpPr>
        <p:spPr>
          <a:xfrm>
            <a:off x="5029200" y="4956048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chemeClr val="tx1"/>
                </a:solidFill>
              </a:rPr>
              <a:t>Welch: t(169) = 0.92, p = .358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chemeClr val="tx1"/>
                </a:solidFill>
              </a:rPr>
              <a:t>Mujeres Gs. 2.396.729 · Varones Gs. 2.318.419</a:t>
            </a:r>
          </a:p>
        </p:txBody>
      </p:sp>
      <p:sp>
        <p:nvSpPr>
          <p:cNvPr id="1008" name="Rounded Rectangle 1007"/>
          <p:cNvSpPr/>
          <p:nvPr/>
        </p:nvSpPr>
        <p:spPr>
          <a:xfrm>
            <a:off x="685800" y="5669280"/>
            <a:ext cx="8092440" cy="502920"/>
          </a:xfrm>
          <a:prstGeom prst="roundRect">
            <a:avLst>
              <a:gd name="adj" fmla="val 3719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9" name="TextBox 1008"/>
          <p:cNvSpPr txBox="1"/>
          <p:nvPr/>
        </p:nvSpPr>
        <p:spPr>
          <a:xfrm>
            <a:off x="914400" y="5669280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chemeClr val="bg1"/>
                </a:solidFill>
              </a:rPr>
              <a:t>La precariedad es transversal: las intervenciones deben ser distritales, no solo periféricas.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sz="3400" b="1">
                <a:solidFill>
                  <a:schemeClr val="accent1"/>
                </a:solidFill>
              </a:rPr>
              <a:t>MYPEs e informalidad patronal</a:t>
            </a:r>
          </a:p>
        </p:txBody>
      </p:sp>
      <p:sp>
        <p:nvSpPr>
          <p:cNvPr id="99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4652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s-PY" b="0"/>
              <a:t>9</a:t>
            </a:fld>
            <a:endParaRPr lang="es-PY"/>
          </a:p>
        </p:txBody>
      </p:sp>
      <p:pic>
        <p:nvPicPr>
          <p:cNvPr id="1000" name="Picture 999" descr="figura4_informalidad_mypes_rub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83080"/>
            <a:ext cx="5029200" cy="3288323"/>
          </a:xfrm>
          <a:prstGeom prst="rect">
            <a:avLst/>
          </a:prstGeom>
        </p:spPr>
      </p:pic>
      <p:sp>
        <p:nvSpPr>
          <p:cNvPr id="1001" name="Rounded Rectangle 1000"/>
          <p:cNvSpPr/>
          <p:nvPr/>
        </p:nvSpPr>
        <p:spPr>
          <a:xfrm>
            <a:off x="685800" y="5257800"/>
            <a:ext cx="5029200" cy="822960"/>
          </a:xfrm>
          <a:prstGeom prst="roundRect">
            <a:avLst>
              <a:gd name="adj" fmla="val 3719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2" name="TextBox 1001"/>
          <p:cNvSpPr txBox="1"/>
          <p:nvPr/>
        </p:nvSpPr>
        <p:spPr>
          <a:xfrm>
            <a:off x="868680" y="5257800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chemeClr val="tx1"/>
                </a:solidFill>
              </a:rPr>
              <a:t>Por rubro: de 96.3% (gastronomía) a 100% (confección textil y servicios técnicos).</a:t>
            </a:r>
          </a:p>
        </p:txBody>
      </p:sp>
      <p:sp>
        <p:nvSpPr>
          <p:cNvPr id="1003" name="Rounded Rectangle 1002"/>
          <p:cNvSpPr/>
          <p:nvPr/>
        </p:nvSpPr>
        <p:spPr>
          <a:xfrm>
            <a:off x="5943600" y="1783080"/>
            <a:ext cx="2834640" cy="1325880"/>
          </a:xfrm>
          <a:prstGeom prst="roundRect">
            <a:avLst>
              <a:gd name="adj" fmla="val 3719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4" name="TextBox 1003"/>
          <p:cNvSpPr txBox="1"/>
          <p:nvPr/>
        </p:nvSpPr>
        <p:spPr>
          <a:xfrm>
            <a:off x="6126480" y="1920240"/>
            <a:ext cx="2468880" cy="44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chemeClr val="accent2"/>
                </a:solidFill>
              </a:rPr>
              <a:t>98.4%</a:t>
            </a:r>
          </a:p>
        </p:txBody>
      </p:sp>
      <p:sp>
        <p:nvSpPr>
          <p:cNvPr id="1005" name="TextBox 1004"/>
          <p:cNvSpPr txBox="1"/>
          <p:nvPr/>
        </p:nvSpPr>
        <p:spPr>
          <a:xfrm>
            <a:off x="6126480" y="2419604"/>
            <a:ext cx="2468880" cy="5887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chemeClr val="bg1"/>
                </a:solidFill>
              </a:rPr>
              <a:t>informalidad patronal media: 389 de 396 dependientes sin IPS</a:t>
            </a:r>
          </a:p>
        </p:txBody>
      </p:sp>
      <p:sp>
        <p:nvSpPr>
          <p:cNvPr id="1006" name="Rounded Rectangle 1005"/>
          <p:cNvSpPr/>
          <p:nvPr/>
        </p:nvSpPr>
        <p:spPr>
          <a:xfrm>
            <a:off x="5943600" y="3246120"/>
            <a:ext cx="2834640" cy="1325880"/>
          </a:xfrm>
          <a:prstGeom prst="roundRect">
            <a:avLst>
              <a:gd name="adj" fmla="val 3719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7" name="TextBox 1006"/>
          <p:cNvSpPr txBox="1"/>
          <p:nvPr/>
        </p:nvSpPr>
        <p:spPr>
          <a:xfrm>
            <a:off x="6126480" y="3383279"/>
            <a:ext cx="2468880" cy="44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chemeClr val="accent1"/>
                </a:solidFill>
              </a:rPr>
              <a:t>51.1%</a:t>
            </a:r>
          </a:p>
        </p:txBody>
      </p:sp>
      <p:sp>
        <p:nvSpPr>
          <p:cNvPr id="1008" name="TextBox 1007"/>
          <p:cNvSpPr txBox="1"/>
          <p:nvPr/>
        </p:nvSpPr>
        <p:spPr>
          <a:xfrm>
            <a:off x="6126480" y="3882643"/>
            <a:ext cx="2468880" cy="5887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chemeClr val="tx1"/>
                </a:solidFill>
              </a:rPr>
              <a:t>de las MYPEs no tiene RUC (38.5% RESIMPLE, 10.4% régimen general)</a:t>
            </a:r>
          </a:p>
        </p:txBody>
      </p:sp>
      <p:sp>
        <p:nvSpPr>
          <p:cNvPr id="1009" name="Rounded Rectangle 1008"/>
          <p:cNvSpPr/>
          <p:nvPr/>
        </p:nvSpPr>
        <p:spPr>
          <a:xfrm>
            <a:off x="5943600" y="4709160"/>
            <a:ext cx="2834640" cy="1325880"/>
          </a:xfrm>
          <a:prstGeom prst="roundRect">
            <a:avLst>
              <a:gd name="adj" fmla="val 3719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0" name="TextBox 1009"/>
          <p:cNvSpPr txBox="1"/>
          <p:nvPr/>
        </p:nvSpPr>
        <p:spPr>
          <a:xfrm>
            <a:off x="6126480" y="4846320"/>
            <a:ext cx="2468880" cy="44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chemeClr val="accent1"/>
                </a:solidFill>
              </a:rPr>
              <a:t>30.4%</a:t>
            </a:r>
          </a:p>
        </p:txBody>
      </p:sp>
      <p:sp>
        <p:nvSpPr>
          <p:cNvPr id="1011" name="TextBox 1010"/>
          <p:cNvSpPr txBox="1"/>
          <p:nvPr/>
        </p:nvSpPr>
        <p:spPr>
          <a:xfrm>
            <a:off x="6126480" y="5345684"/>
            <a:ext cx="2468880" cy="5887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chemeClr val="tx1"/>
                </a:solidFill>
              </a:rPr>
              <a:t>cobra solo en efectivo; el resto ya usa billeteras, QR o transferencias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sz="3400" b="1">
                <a:solidFill>
                  <a:schemeClr val="accent1"/>
                </a:solidFill>
              </a:rPr>
              <a:t>¿Por qué no aportan al IPS?</a:t>
            </a:r>
          </a:p>
        </p:txBody>
      </p:sp>
      <p:sp>
        <p:nvSpPr>
          <p:cNvPr id="99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4652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s-PY" b="0"/>
              <a:t>10</a:t>
            </a:fld>
            <a:endParaRPr lang="es-PY"/>
          </a:p>
        </p:txBody>
      </p:sp>
      <p:graphicFrame>
        <p:nvGraphicFramePr>
          <p:cNvPr id="1000" name="Chart 999"/>
          <p:cNvGraphicFramePr>
            <a:graphicFrameLocks noGrp="1"/>
          </p:cNvGraphicFramePr>
          <p:nvPr/>
        </p:nvGraphicFramePr>
        <p:xfrm>
          <a:off x="685800" y="1783080"/>
          <a:ext cx="393192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01" name="Chart 1000"/>
          <p:cNvGraphicFramePr>
            <a:graphicFrameLocks noGrp="1"/>
          </p:cNvGraphicFramePr>
          <p:nvPr/>
        </p:nvGraphicFramePr>
        <p:xfrm>
          <a:off x="4846320" y="1783080"/>
          <a:ext cx="393192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02" name="Rounded Rectangle 1001"/>
          <p:cNvSpPr/>
          <p:nvPr/>
        </p:nvSpPr>
        <p:spPr>
          <a:xfrm>
            <a:off x="685800" y="5577840"/>
            <a:ext cx="8092440" cy="594360"/>
          </a:xfrm>
          <a:prstGeom prst="roundRect">
            <a:avLst>
              <a:gd name="adj" fmla="val 3719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3" name="TextBox 1002"/>
          <p:cNvSpPr txBox="1"/>
          <p:nvPr/>
        </p:nvSpPr>
        <p:spPr>
          <a:xfrm>
            <a:off x="914400" y="5577840"/>
            <a:ext cx="76809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chemeClr val="accent2"/>
                </a:solidFill>
              </a:rPr>
              <a:t>Desconocer los trámites </a:t>
            </a:r>
            <a:r>
              <a:rPr sz="1400" b="1" i="0">
                <a:solidFill>
                  <a:schemeClr val="bg1"/>
                </a:solidFill>
              </a:rPr>
              <a:t>pesa en ambos lados: es el 1.er motivo patronal (23.0%) y afecta al 17.0% de los trabajadores.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sz="3400" b="1">
                <a:solidFill>
                  <a:schemeClr val="accent1"/>
                </a:solidFill>
              </a:rPr>
              <a:t>Arquitectura del SIG</a:t>
            </a:r>
          </a:p>
        </p:txBody>
      </p:sp>
      <p:sp>
        <p:nvSpPr>
          <p:cNvPr id="99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4652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s-PY" b="0"/>
              <a:t>11</a:t>
            </a:fld>
            <a:endParaRPr lang="es-PY"/>
          </a:p>
        </p:txBody>
      </p:sp>
      <p:sp>
        <p:nvSpPr>
          <p:cNvPr id="1000" name="Pentagon 999"/>
          <p:cNvSpPr/>
          <p:nvPr/>
        </p:nvSpPr>
        <p:spPr>
          <a:xfrm>
            <a:off x="685800" y="1783080"/>
            <a:ext cx="1664208" cy="640080"/>
          </a:xfrm>
          <a:prstGeom prst="homePlate">
            <a:avLst/>
          </a:prstGeom>
          <a:solidFill>
            <a:schemeClr val="accent3"/>
          </a:solidFill>
          <a:ln w="127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1" name="TextBox 1000"/>
          <p:cNvSpPr txBox="1"/>
          <p:nvPr/>
        </p:nvSpPr>
        <p:spPr>
          <a:xfrm>
            <a:off x="795528" y="1783080"/>
            <a:ext cx="12344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chemeClr val="bg1"/>
                </a:solidFill>
              </a:rPr>
              <a:t>Captura</a:t>
            </a:r>
          </a:p>
        </p:txBody>
      </p:sp>
      <p:sp>
        <p:nvSpPr>
          <p:cNvPr id="1002" name="TextBox 1001"/>
          <p:cNvSpPr txBox="1"/>
          <p:nvPr/>
        </p:nvSpPr>
        <p:spPr>
          <a:xfrm>
            <a:off x="731520" y="2560320"/>
            <a:ext cx="143560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chemeClr val="tx1"/>
                </a:solidFill>
              </a:rPr>
              <a:t>KoboToolbox + ODK Collect, sin conexión</a:t>
            </a:r>
          </a:p>
        </p:txBody>
      </p:sp>
      <p:sp>
        <p:nvSpPr>
          <p:cNvPr id="1003" name="Chevron 1002"/>
          <p:cNvSpPr/>
          <p:nvPr/>
        </p:nvSpPr>
        <p:spPr>
          <a:xfrm>
            <a:off x="2304288" y="1783080"/>
            <a:ext cx="1664208" cy="640080"/>
          </a:xfrm>
          <a:prstGeom prst="chevron">
            <a:avLst/>
          </a:prstGeom>
          <a:solidFill>
            <a:schemeClr val="accent3"/>
          </a:solidFill>
          <a:ln w="127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4" name="TextBox 1003"/>
          <p:cNvSpPr txBox="1"/>
          <p:nvPr/>
        </p:nvSpPr>
        <p:spPr>
          <a:xfrm>
            <a:off x="2578608" y="1783080"/>
            <a:ext cx="12344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chemeClr val="bg1"/>
                </a:solidFill>
              </a:rPr>
              <a:t>ETL</a:t>
            </a:r>
          </a:p>
        </p:txBody>
      </p:sp>
      <p:sp>
        <p:nvSpPr>
          <p:cNvPr id="1005" name="TextBox 1004"/>
          <p:cNvSpPr txBox="1"/>
          <p:nvPr/>
        </p:nvSpPr>
        <p:spPr>
          <a:xfrm>
            <a:off x="2350008" y="2560320"/>
            <a:ext cx="143560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chemeClr val="tx1"/>
                </a:solidFill>
              </a:rPr>
              <a:t>Python: valida y calcula indicadores</a:t>
            </a:r>
          </a:p>
        </p:txBody>
      </p:sp>
      <p:sp>
        <p:nvSpPr>
          <p:cNvPr id="1006" name="Chevron 1005"/>
          <p:cNvSpPr/>
          <p:nvPr/>
        </p:nvSpPr>
        <p:spPr>
          <a:xfrm>
            <a:off x="3922776" y="1783080"/>
            <a:ext cx="1664208" cy="640080"/>
          </a:xfrm>
          <a:prstGeom prst="chevron">
            <a:avLst/>
          </a:prstGeom>
          <a:solidFill>
            <a:schemeClr val="accent3"/>
          </a:solidFill>
          <a:ln w="127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7" name="TextBox 1006"/>
          <p:cNvSpPr txBox="1"/>
          <p:nvPr/>
        </p:nvSpPr>
        <p:spPr>
          <a:xfrm>
            <a:off x="4197096" y="1783080"/>
            <a:ext cx="12344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chemeClr val="bg1"/>
                </a:solidFill>
              </a:rPr>
              <a:t>Base de datos</a:t>
            </a:r>
          </a:p>
        </p:txBody>
      </p:sp>
      <p:sp>
        <p:nvSpPr>
          <p:cNvPr id="1008" name="TextBox 1007"/>
          <p:cNvSpPr txBox="1"/>
          <p:nvPr/>
        </p:nvSpPr>
        <p:spPr>
          <a:xfrm>
            <a:off x="3968496" y="2560320"/>
            <a:ext cx="143560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chemeClr val="tx1"/>
                </a:solidFill>
              </a:rPr>
              <a:t>PostgreSQL 16 normalizado en 3FN</a:t>
            </a:r>
          </a:p>
        </p:txBody>
      </p:sp>
      <p:sp>
        <p:nvSpPr>
          <p:cNvPr id="1009" name="Chevron 1008"/>
          <p:cNvSpPr/>
          <p:nvPr/>
        </p:nvSpPr>
        <p:spPr>
          <a:xfrm>
            <a:off x="5541264" y="1783080"/>
            <a:ext cx="1664208" cy="640080"/>
          </a:xfrm>
          <a:prstGeom prst="chevron">
            <a:avLst/>
          </a:prstGeom>
          <a:solidFill>
            <a:schemeClr val="accent3"/>
          </a:solidFill>
          <a:ln w="127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0" name="TextBox 1009"/>
          <p:cNvSpPr txBox="1"/>
          <p:nvPr/>
        </p:nvSpPr>
        <p:spPr>
          <a:xfrm>
            <a:off x="5815584" y="1783080"/>
            <a:ext cx="12344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chemeClr val="bg1"/>
                </a:solidFill>
              </a:rPr>
              <a:t>Análisis</a:t>
            </a:r>
          </a:p>
        </p:txBody>
      </p:sp>
      <p:sp>
        <p:nvSpPr>
          <p:cNvPr id="1011" name="TextBox 1010"/>
          <p:cNvSpPr txBox="1"/>
          <p:nvPr/>
        </p:nvSpPr>
        <p:spPr>
          <a:xfrm>
            <a:off x="5586984" y="2560320"/>
            <a:ext cx="143560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chemeClr val="tx1"/>
                </a:solidFill>
              </a:rPr>
              <a:t>R: estadística y figuras APA</a:t>
            </a:r>
          </a:p>
        </p:txBody>
      </p:sp>
      <p:sp>
        <p:nvSpPr>
          <p:cNvPr id="1012" name="Chevron 1011"/>
          <p:cNvSpPr/>
          <p:nvPr/>
        </p:nvSpPr>
        <p:spPr>
          <a:xfrm>
            <a:off x="7159752" y="1783080"/>
            <a:ext cx="1664208" cy="640080"/>
          </a:xfrm>
          <a:prstGeom prst="chevron">
            <a:avLst/>
          </a:prstGeom>
          <a:solidFill>
            <a:schemeClr val="tx2"/>
          </a:solidFill>
          <a:ln w="127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3" name="TextBox 1012"/>
          <p:cNvSpPr txBox="1"/>
          <p:nvPr/>
        </p:nvSpPr>
        <p:spPr>
          <a:xfrm>
            <a:off x="7434072" y="1783080"/>
            <a:ext cx="12344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chemeClr val="bg1"/>
                </a:solidFill>
              </a:rPr>
              <a:t>Dashboard</a:t>
            </a:r>
          </a:p>
        </p:txBody>
      </p:sp>
      <p:sp>
        <p:nvSpPr>
          <p:cNvPr id="1014" name="TextBox 1013"/>
          <p:cNvSpPr txBox="1"/>
          <p:nvPr/>
        </p:nvSpPr>
        <p:spPr>
          <a:xfrm>
            <a:off x="7205472" y="2560320"/>
            <a:ext cx="143560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chemeClr val="tx1"/>
                </a:solidFill>
              </a:rPr>
              <a:t>HTML, Leaflet y Chart.js</a:t>
            </a:r>
          </a:p>
        </p:txBody>
      </p:sp>
      <p:sp>
        <p:nvSpPr>
          <p:cNvPr id="1015" name="Rounded Rectangle 1014"/>
          <p:cNvSpPr/>
          <p:nvPr/>
        </p:nvSpPr>
        <p:spPr>
          <a:xfrm>
            <a:off x="685800" y="3429000"/>
            <a:ext cx="1885950" cy="1417320"/>
          </a:xfrm>
          <a:prstGeom prst="roundRect">
            <a:avLst>
              <a:gd name="adj" fmla="val 3719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6" name="TextBox 1015"/>
          <p:cNvSpPr txBox="1"/>
          <p:nvPr/>
        </p:nvSpPr>
        <p:spPr>
          <a:xfrm>
            <a:off x="850392" y="3552444"/>
            <a:ext cx="1556766" cy="44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chemeClr val="accent1"/>
                </a:solidFill>
              </a:rPr>
              <a:t>13 + 4</a:t>
            </a:r>
          </a:p>
        </p:txBody>
      </p:sp>
      <p:sp>
        <p:nvSpPr>
          <p:cNvPr id="1017" name="TextBox 1016"/>
          <p:cNvSpPr txBox="1"/>
          <p:nvPr/>
        </p:nvSpPr>
        <p:spPr>
          <a:xfrm>
            <a:off x="850392" y="4051807"/>
            <a:ext cx="1556766" cy="709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chemeClr val="tx1"/>
                </a:solidFill>
              </a:rPr>
              <a:t>tablas en 3FN y vistas analíticas</a:t>
            </a:r>
          </a:p>
        </p:txBody>
      </p:sp>
      <p:sp>
        <p:nvSpPr>
          <p:cNvPr id="1018" name="Rounded Rectangle 1017"/>
          <p:cNvSpPr/>
          <p:nvPr/>
        </p:nvSpPr>
        <p:spPr>
          <a:xfrm>
            <a:off x="2754630" y="3429000"/>
            <a:ext cx="1885950" cy="1417320"/>
          </a:xfrm>
          <a:prstGeom prst="roundRect">
            <a:avLst>
              <a:gd name="adj" fmla="val 3719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9" name="TextBox 1018"/>
          <p:cNvSpPr txBox="1"/>
          <p:nvPr/>
        </p:nvSpPr>
        <p:spPr>
          <a:xfrm>
            <a:off x="2919222" y="3552444"/>
            <a:ext cx="1556766" cy="44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chemeClr val="accent1"/>
                </a:solidFill>
              </a:rPr>
              <a:t>0</a:t>
            </a:r>
          </a:p>
        </p:txBody>
      </p:sp>
      <p:sp>
        <p:nvSpPr>
          <p:cNvPr id="1020" name="TextBox 1019"/>
          <p:cNvSpPr txBox="1"/>
          <p:nvPr/>
        </p:nvSpPr>
        <p:spPr>
          <a:xfrm>
            <a:off x="2919222" y="4051807"/>
            <a:ext cx="1556766" cy="709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chemeClr val="tx1"/>
                </a:solidFill>
              </a:rPr>
              <a:t>registros huérfanos en claves foráneas</a:t>
            </a:r>
          </a:p>
        </p:txBody>
      </p:sp>
      <p:sp>
        <p:nvSpPr>
          <p:cNvPr id="1021" name="Rounded Rectangle 1020"/>
          <p:cNvSpPr/>
          <p:nvPr/>
        </p:nvSpPr>
        <p:spPr>
          <a:xfrm>
            <a:off x="4823460" y="3429000"/>
            <a:ext cx="1885950" cy="1417320"/>
          </a:xfrm>
          <a:prstGeom prst="roundRect">
            <a:avLst>
              <a:gd name="adj" fmla="val 3719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2" name="TextBox 1021"/>
          <p:cNvSpPr txBox="1"/>
          <p:nvPr/>
        </p:nvSpPr>
        <p:spPr>
          <a:xfrm>
            <a:off x="4988052" y="3552444"/>
            <a:ext cx="1556766" cy="44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chemeClr val="accent1"/>
                </a:solidFill>
              </a:rPr>
              <a:t>100%</a:t>
            </a:r>
          </a:p>
        </p:txBody>
      </p:sp>
      <p:sp>
        <p:nvSpPr>
          <p:cNvPr id="1023" name="TextBox 1022"/>
          <p:cNvSpPr txBox="1"/>
          <p:nvPr/>
        </p:nvSpPr>
        <p:spPr>
          <a:xfrm>
            <a:off x="4988052" y="4051807"/>
            <a:ext cx="1556766" cy="709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chemeClr val="tx1"/>
                </a:solidFill>
              </a:rPr>
              <a:t>de registros cumple las reglas CHECK</a:t>
            </a:r>
          </a:p>
        </p:txBody>
      </p:sp>
      <p:sp>
        <p:nvSpPr>
          <p:cNvPr id="1024" name="Rounded Rectangle 1023"/>
          <p:cNvSpPr/>
          <p:nvPr/>
        </p:nvSpPr>
        <p:spPr>
          <a:xfrm>
            <a:off x="6892290" y="3429000"/>
            <a:ext cx="1885950" cy="1417320"/>
          </a:xfrm>
          <a:prstGeom prst="roundRect">
            <a:avLst>
              <a:gd name="adj" fmla="val 3719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5" name="TextBox 1024"/>
          <p:cNvSpPr txBox="1"/>
          <p:nvPr/>
        </p:nvSpPr>
        <p:spPr>
          <a:xfrm>
            <a:off x="7056882" y="3552444"/>
            <a:ext cx="1556766" cy="44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chemeClr val="accent1"/>
                </a:solidFill>
              </a:rPr>
              <a:t>2,2 ms</a:t>
            </a:r>
          </a:p>
        </p:txBody>
      </p:sp>
      <p:sp>
        <p:nvSpPr>
          <p:cNvPr id="1026" name="TextBox 1025"/>
          <p:cNvSpPr txBox="1"/>
          <p:nvPr/>
        </p:nvSpPr>
        <p:spPr>
          <a:xfrm>
            <a:off x="7056882" y="4051807"/>
            <a:ext cx="1556766" cy="709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chemeClr val="tx1"/>
                </a:solidFill>
              </a:rPr>
              <a:t>consulta más lenta (umbral: 50 ms)</a:t>
            </a:r>
          </a:p>
        </p:txBody>
      </p:sp>
      <p:sp>
        <p:nvSpPr>
          <p:cNvPr id="1027" name="Rounded Rectangle 1026"/>
          <p:cNvSpPr/>
          <p:nvPr/>
        </p:nvSpPr>
        <p:spPr>
          <a:xfrm>
            <a:off x="685800" y="5029200"/>
            <a:ext cx="8092440" cy="1051560"/>
          </a:xfrm>
          <a:prstGeom prst="roundRect">
            <a:avLst>
              <a:gd name="adj" fmla="val 3719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8" name="TextBox 1027"/>
          <p:cNvSpPr txBox="1"/>
          <p:nvPr/>
        </p:nvSpPr>
        <p:spPr>
          <a:xfrm>
            <a:off x="914400" y="5120640"/>
            <a:ext cx="76809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chemeClr val="tx2"/>
                </a:solidFill>
              </a:rPr>
              <a:t>Por qué estas herramientas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chemeClr val="tx1"/>
                </a:solidFill>
              </a:rPr>
              <a:t>Código abierto y sin licencias, funciona sin señal en terreno y el dashboard abre en cualquier navegador: la Municipalidad lo puede usar sin instalar nada.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sz="3400" b="1">
                <a:solidFill>
                  <a:schemeClr val="accent1"/>
                </a:solidFill>
              </a:rPr>
              <a:t>Modelo entidad-relación (3FN)</a:t>
            </a:r>
          </a:p>
        </p:txBody>
      </p:sp>
      <p:sp>
        <p:nvSpPr>
          <p:cNvPr id="99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4652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s-PY" b="0"/>
              <a:t>12</a:t>
            </a:fld>
            <a:endParaRPr lang="es-PY"/>
          </a:p>
        </p:txBody>
      </p:sp>
      <p:pic>
        <p:nvPicPr>
          <p:cNvPr id="1000" name="Picture 999" descr="diagrama_er_impre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83080"/>
            <a:ext cx="5257800" cy="3719180"/>
          </a:xfrm>
          <a:prstGeom prst="rect">
            <a:avLst/>
          </a:prstGeom>
        </p:spPr>
      </p:pic>
      <p:sp>
        <p:nvSpPr>
          <p:cNvPr id="1001" name="Rounded Rectangle 1000"/>
          <p:cNvSpPr/>
          <p:nvPr/>
        </p:nvSpPr>
        <p:spPr>
          <a:xfrm>
            <a:off x="6172200" y="1783080"/>
            <a:ext cx="2606040" cy="4343400"/>
          </a:xfrm>
          <a:prstGeom prst="roundRect">
            <a:avLst>
              <a:gd name="adj" fmla="val 3719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2" name="TextBox 1001"/>
          <p:cNvSpPr txBox="1"/>
          <p:nvPr/>
        </p:nvSpPr>
        <p:spPr>
          <a:xfrm>
            <a:off x="6355080" y="1920240"/>
            <a:ext cx="224028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chemeClr val="accent3"/>
                </a:solidFill>
              </a:rPr>
              <a:t>6 catálogos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chemeClr val="tx1"/>
                </a:solidFill>
              </a:rPr>
              <a:t>barrios, oficios, rubros, medios de pago, canales y programas</a:t>
            </a:r>
          </a:p>
          <a:p>
            <a:pPr algn="l">
              <a:spcBef>
                <a:spcPts val="400"/>
              </a:spcBef>
            </a:pPr>
            <a:r>
              <a:rPr sz="1400" b="1" i="0">
                <a:solidFill>
                  <a:schemeClr val="accent3"/>
                </a:solidFill>
              </a:rPr>
              <a:t>5 maestras y transaccionales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chemeClr val="tx1"/>
                </a:solidFill>
              </a:rPr>
              <a:t>trabajadores, indicadores sociales, MYPEs, KPI de marketing y derivaciones</a:t>
            </a:r>
          </a:p>
          <a:p>
            <a:pPr algn="l">
              <a:spcBef>
                <a:spcPts val="400"/>
              </a:spcBef>
            </a:pPr>
            <a:r>
              <a:rPr sz="1400" b="1" i="0">
                <a:solidFill>
                  <a:schemeClr val="accent3"/>
                </a:solidFill>
              </a:rPr>
              <a:t>2 asociativas N:M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chemeClr val="tx1"/>
                </a:solidFill>
              </a:rPr>
              <a:t>medios de pago de trabajadores y de MYPEs</a:t>
            </a:r>
          </a:p>
          <a:p>
            <a:pPr algn="l">
              <a:spcBef>
                <a:spcPts val="400"/>
              </a:spcBef>
            </a:pPr>
            <a:r>
              <a:rPr sz="1400" b="1" i="0">
                <a:solidFill>
                  <a:schemeClr val="accent3"/>
                </a:solidFill>
              </a:rPr>
              <a:t>4 vistas analíticas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chemeClr val="tx1"/>
                </a:solidFill>
              </a:rPr>
              <a:t>alimentan el dashboard y el análisis en R</a:t>
            </a:r>
          </a:p>
        </p:txBody>
      </p:sp>
      <p:sp>
        <p:nvSpPr>
          <p:cNvPr id="1003" name="TextBox 1002"/>
          <p:cNvSpPr txBox="1"/>
          <p:nvPr/>
        </p:nvSpPr>
        <p:spPr>
          <a:xfrm>
            <a:off x="685800" y="5989320"/>
            <a:ext cx="5257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chemeClr val="accent5"/>
                </a:solidFill>
              </a:rPr>
              <a:t>Azul: catálogos · verde: maestras y transaccionales · amarillo: asociativas N:M. Versión interactiva: docs/diagrama_er.html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sz="3400" b="1">
                <a:solidFill>
                  <a:schemeClr val="accent1"/>
                </a:solidFill>
              </a:rPr>
              <a:t>Dashboard gerencial en vivo</a:t>
            </a:r>
          </a:p>
        </p:txBody>
      </p:sp>
      <p:sp>
        <p:nvSpPr>
          <p:cNvPr id="99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4652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s-PY" b="0"/>
              <a:t>13</a:t>
            </a:fld>
            <a:endParaRPr lang="es-PY"/>
          </a:p>
        </p:txBody>
      </p:sp>
      <p:pic>
        <p:nvPicPr>
          <p:cNvPr id="1000" name="Picture 999" descr="dashboard_social.png"/>
          <p:cNvPicPr>
            <a:picLocks noChangeAspect="1"/>
          </p:cNvPicPr>
          <p:nvPr/>
        </p:nvPicPr>
        <p:blipFill>
          <a:blip r:embed="rId3"/>
          <a:srcRect b="30050"/>
          <a:stretch>
            <a:fillRect/>
          </a:stretch>
        </p:blipFill>
        <p:spPr>
          <a:xfrm>
            <a:off x="685800" y="1783080"/>
            <a:ext cx="5120640" cy="3840579"/>
          </a:xfrm>
          <a:prstGeom prst="rect">
            <a:avLst/>
          </a:prstGeom>
          <a:ln w="9525">
            <a:solidFill>
              <a:srgbClr val="C8DCC8"/>
            </a:solidFill>
          </a:ln>
        </p:spPr>
      </p:pic>
      <p:sp>
        <p:nvSpPr>
          <p:cNvPr id="1001" name="Rounded Rectangle 1000"/>
          <p:cNvSpPr/>
          <p:nvPr/>
        </p:nvSpPr>
        <p:spPr>
          <a:xfrm>
            <a:off x="6172200" y="1783080"/>
            <a:ext cx="2606040" cy="3566160"/>
          </a:xfrm>
          <a:prstGeom prst="roundRect">
            <a:avLst>
              <a:gd name="adj" fmla="val 3719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2" name="TextBox 1001"/>
          <p:cNvSpPr txBox="1"/>
          <p:nvPr/>
        </p:nvSpPr>
        <p:spPr>
          <a:xfrm>
            <a:off x="6172200" y="1920240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chemeClr val="accent1"/>
                </a:solidFill>
              </a:rPr>
              <a:t>Abrilo en tu celular</a:t>
            </a:r>
          </a:p>
        </p:txBody>
      </p:sp>
      <p:pic>
        <p:nvPicPr>
          <p:cNvPr id="1003" name="Picture 1002" descr="qr_github_pages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2331720"/>
            <a:ext cx="2148840" cy="2148840"/>
          </a:xfrm>
          <a:prstGeom prst="rect">
            <a:avLst/>
          </a:prstGeom>
        </p:spPr>
      </p:pic>
      <p:sp>
        <p:nvSpPr>
          <p:cNvPr id="1004" name="TextBox 1003"/>
          <p:cNvSpPr txBox="1"/>
          <p:nvPr/>
        </p:nvSpPr>
        <p:spPr>
          <a:xfrm>
            <a:off x="6263640" y="4572000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chemeClr val="tx2"/>
                </a:solidFill>
                <a:hlinkClick r:id="rId4"/>
              </a:rPr>
              <a:t>gilgapy.github.io/</a:t>
            </a:r>
          </a:p>
          <a:p>
            <a:pPr algn="ctr">
              <a:spcBef>
                <a:spcPts val="0"/>
              </a:spcBef>
            </a:pPr>
            <a:r>
              <a:rPr sz="1000" b="0" i="0">
                <a:solidFill>
                  <a:schemeClr val="tx2"/>
                </a:solidFill>
                <a:hlinkClick r:id="rId4"/>
              </a:rPr>
              <a:t>sig-informalidad-villarrica</a:t>
            </a:r>
          </a:p>
        </p:txBody>
      </p:sp>
      <p:sp>
        <p:nvSpPr>
          <p:cNvPr id="1005" name="TextBox 1004"/>
          <p:cNvSpPr txBox="1"/>
          <p:nvPr/>
        </p:nvSpPr>
        <p:spPr>
          <a:xfrm>
            <a:off x="6263640" y="4983479"/>
            <a:ext cx="2423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chemeClr val="accent5"/>
                </a:solidFill>
              </a:rPr>
              <a:t>Escaneá con la cámara</a:t>
            </a:r>
          </a:p>
        </p:txBody>
      </p:sp>
      <p:sp>
        <p:nvSpPr>
          <p:cNvPr id="1006" name="TextBox 1005"/>
          <p:cNvSpPr txBox="1"/>
          <p:nvPr/>
        </p:nvSpPr>
        <p:spPr>
          <a:xfrm>
            <a:off x="6172200" y="5486400"/>
            <a:ext cx="2606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chemeClr val="tx1"/>
                </a:solidFill>
              </a:rPr>
              <a:t>4 pestañas y filtros por barrio, género, rubro y canal.</a:t>
            </a:r>
          </a:p>
        </p:txBody>
      </p:sp>
      <p:sp>
        <p:nvSpPr>
          <p:cNvPr id="1007" name="TextBox 1006"/>
          <p:cNvSpPr txBox="1"/>
          <p:nvPr/>
        </p:nvSpPr>
        <p:spPr>
          <a:xfrm>
            <a:off x="685800" y="5760720"/>
            <a:ext cx="5120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chemeClr val="accent5"/>
                </a:solidFill>
              </a:rPr>
              <a:t>Captura de la pestaña 1: diagnóstico social y territorio (docs/dashboard.html).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sz="3400" b="1">
                <a:solidFill>
                  <a:schemeClr val="accent1"/>
                </a:solidFill>
              </a:rPr>
              <a:t>Embudo de la campaña</a:t>
            </a:r>
          </a:p>
        </p:txBody>
      </p:sp>
      <p:sp>
        <p:nvSpPr>
          <p:cNvPr id="99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4652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s-PY" b="0"/>
              <a:t>14</a:t>
            </a:fld>
            <a:endParaRPr lang="es-PY"/>
          </a:p>
        </p:txBody>
      </p:sp>
      <p:sp>
        <p:nvSpPr>
          <p:cNvPr id="1000" name="Rounded Rectangle 999"/>
          <p:cNvSpPr/>
          <p:nvPr/>
        </p:nvSpPr>
        <p:spPr>
          <a:xfrm>
            <a:off x="685800" y="1783080"/>
            <a:ext cx="50292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1" name="TextBox 1000"/>
          <p:cNvSpPr txBox="1"/>
          <p:nvPr/>
        </p:nvSpPr>
        <p:spPr>
          <a:xfrm>
            <a:off x="685800" y="1874519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chemeClr val="tx2"/>
                </a:solidFill>
              </a:rPr>
              <a:t>Alcance</a:t>
            </a:r>
          </a:p>
        </p:txBody>
      </p:sp>
      <p:sp>
        <p:nvSpPr>
          <p:cNvPr id="1002" name="TextBox 1001"/>
          <p:cNvSpPr txBox="1"/>
          <p:nvPr/>
        </p:nvSpPr>
        <p:spPr>
          <a:xfrm>
            <a:off x="685800" y="214884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chemeClr val="tx2"/>
                </a:solidFill>
              </a:rPr>
              <a:t>193.889</a:t>
            </a:r>
            <a:r>
              <a:rPr sz="1500" b="1" i="0">
                <a:solidFill>
                  <a:schemeClr val="tx2"/>
                </a:solidFill>
              </a:rPr>
              <a:t>  ·  100%</a:t>
            </a:r>
          </a:p>
        </p:txBody>
      </p:sp>
      <p:sp>
        <p:nvSpPr>
          <p:cNvPr id="1003" name="Rounded Rectangle 1002"/>
          <p:cNvSpPr/>
          <p:nvPr/>
        </p:nvSpPr>
        <p:spPr>
          <a:xfrm>
            <a:off x="1097280" y="2834639"/>
            <a:ext cx="4206240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127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4" name="TextBox 1003"/>
          <p:cNvSpPr txBox="1"/>
          <p:nvPr/>
        </p:nvSpPr>
        <p:spPr>
          <a:xfrm>
            <a:off x="1097280" y="2926079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chemeClr val="tx2"/>
                </a:solidFill>
              </a:rPr>
              <a:t>Interacciones</a:t>
            </a:r>
          </a:p>
        </p:txBody>
      </p:sp>
      <p:sp>
        <p:nvSpPr>
          <p:cNvPr id="1005" name="TextBox 1004"/>
          <p:cNvSpPr txBox="1"/>
          <p:nvPr/>
        </p:nvSpPr>
        <p:spPr>
          <a:xfrm>
            <a:off x="1097280" y="3200399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chemeClr val="tx2"/>
                </a:solidFill>
              </a:rPr>
              <a:t>23.869</a:t>
            </a:r>
            <a:r>
              <a:rPr sz="1500" b="1" i="0">
                <a:solidFill>
                  <a:schemeClr val="tx2"/>
                </a:solidFill>
              </a:rPr>
              <a:t>  ·  12.3%</a:t>
            </a:r>
          </a:p>
        </p:txBody>
      </p:sp>
      <p:sp>
        <p:nvSpPr>
          <p:cNvPr id="1006" name="Rounded Rectangle 1005"/>
          <p:cNvSpPr/>
          <p:nvPr/>
        </p:nvSpPr>
        <p:spPr>
          <a:xfrm>
            <a:off x="1508760" y="3886200"/>
            <a:ext cx="3383280" cy="9144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7" name="TextBox 1006"/>
          <p:cNvSpPr txBox="1"/>
          <p:nvPr/>
        </p:nvSpPr>
        <p:spPr>
          <a:xfrm>
            <a:off x="1508760" y="3977639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chemeClr val="bg1"/>
                </a:solidFill>
              </a:rPr>
              <a:t>Consultas</a:t>
            </a:r>
          </a:p>
        </p:txBody>
      </p:sp>
      <p:sp>
        <p:nvSpPr>
          <p:cNvPr id="1008" name="TextBox 1007"/>
          <p:cNvSpPr txBox="1"/>
          <p:nvPr/>
        </p:nvSpPr>
        <p:spPr>
          <a:xfrm>
            <a:off x="1508760" y="425196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chemeClr val="bg1"/>
                </a:solidFill>
              </a:rPr>
              <a:t>8.792</a:t>
            </a:r>
            <a:r>
              <a:rPr sz="1500" b="1" i="0">
                <a:solidFill>
                  <a:schemeClr val="bg1"/>
                </a:solidFill>
              </a:rPr>
              <a:t>  ·  4.5%</a:t>
            </a:r>
          </a:p>
        </p:txBody>
      </p:sp>
      <p:sp>
        <p:nvSpPr>
          <p:cNvPr id="1009" name="Rounded Rectangle 1008"/>
          <p:cNvSpPr/>
          <p:nvPr/>
        </p:nvSpPr>
        <p:spPr>
          <a:xfrm>
            <a:off x="1920240" y="4937759"/>
            <a:ext cx="256032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0" name="TextBox 1009"/>
          <p:cNvSpPr txBox="1"/>
          <p:nvPr/>
        </p:nvSpPr>
        <p:spPr>
          <a:xfrm>
            <a:off x="1920240" y="5029199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chemeClr val="bg1"/>
                </a:solidFill>
              </a:rPr>
              <a:t>Derivaciones</a:t>
            </a:r>
          </a:p>
        </p:txBody>
      </p:sp>
      <p:sp>
        <p:nvSpPr>
          <p:cNvPr id="1011" name="TextBox 1010"/>
          <p:cNvSpPr txBox="1"/>
          <p:nvPr/>
        </p:nvSpPr>
        <p:spPr>
          <a:xfrm>
            <a:off x="1920240" y="530352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chemeClr val="bg1"/>
                </a:solidFill>
              </a:rPr>
              <a:t>2.217</a:t>
            </a:r>
            <a:r>
              <a:rPr sz="1500" b="1" i="0">
                <a:solidFill>
                  <a:schemeClr val="bg1"/>
                </a:solidFill>
              </a:rPr>
              <a:t>  ·  1.1%</a:t>
            </a:r>
          </a:p>
        </p:txBody>
      </p:sp>
      <p:sp>
        <p:nvSpPr>
          <p:cNvPr id="1012" name="TextBox 1011"/>
          <p:cNvSpPr txBox="1"/>
          <p:nvPr/>
        </p:nvSpPr>
        <p:spPr>
          <a:xfrm>
            <a:off x="685800" y="6035040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chemeClr val="accent5"/>
                </a:solidFill>
              </a:rPr>
              <a:t>Campaña “Trabajo Formal, Futuro Seguro”. Destinos: SUACE 1.340 · IPS 877.</a:t>
            </a:r>
          </a:p>
        </p:txBody>
      </p:sp>
      <p:sp>
        <p:nvSpPr>
          <p:cNvPr id="1013" name="Rounded Rectangle 1012"/>
          <p:cNvSpPr/>
          <p:nvPr/>
        </p:nvSpPr>
        <p:spPr>
          <a:xfrm>
            <a:off x="5943600" y="1783080"/>
            <a:ext cx="2834640" cy="1325880"/>
          </a:xfrm>
          <a:prstGeom prst="roundRect">
            <a:avLst>
              <a:gd name="adj" fmla="val 3719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4" name="TextBox 1013"/>
          <p:cNvSpPr txBox="1"/>
          <p:nvPr/>
        </p:nvSpPr>
        <p:spPr>
          <a:xfrm>
            <a:off x="6126480" y="1920240"/>
            <a:ext cx="2468880" cy="412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chemeClr val="accent1"/>
                </a:solidFill>
              </a:rPr>
              <a:t>42 días</a:t>
            </a:r>
          </a:p>
        </p:txBody>
      </p:sp>
      <p:sp>
        <p:nvSpPr>
          <p:cNvPr id="1015" name="TextBox 1014"/>
          <p:cNvSpPr txBox="1"/>
          <p:nvPr/>
        </p:nvSpPr>
        <p:spPr>
          <a:xfrm>
            <a:off x="6126480" y="2387854"/>
            <a:ext cx="2468880" cy="6205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chemeClr val="tx1"/>
                </a:solidFill>
              </a:rPr>
              <a:t>de campaña, del 01/09 al 12/10/2026, en 4 canales</a:t>
            </a:r>
          </a:p>
        </p:txBody>
      </p:sp>
      <p:sp>
        <p:nvSpPr>
          <p:cNvPr id="1016" name="Rounded Rectangle 1015"/>
          <p:cNvSpPr/>
          <p:nvPr/>
        </p:nvSpPr>
        <p:spPr>
          <a:xfrm>
            <a:off x="5943600" y="3246120"/>
            <a:ext cx="2834640" cy="1325880"/>
          </a:xfrm>
          <a:prstGeom prst="roundRect">
            <a:avLst>
              <a:gd name="adj" fmla="val 3719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7" name="TextBox 1016"/>
          <p:cNvSpPr txBox="1"/>
          <p:nvPr/>
        </p:nvSpPr>
        <p:spPr>
          <a:xfrm>
            <a:off x="6126480" y="3383279"/>
            <a:ext cx="2468880" cy="412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chemeClr val="accent1"/>
                </a:solidFill>
              </a:rPr>
              <a:t>Gs. 5.504.000</a:t>
            </a:r>
          </a:p>
        </p:txBody>
      </p:sp>
      <p:sp>
        <p:nvSpPr>
          <p:cNvPr id="1018" name="TextBox 1017"/>
          <p:cNvSpPr txBox="1"/>
          <p:nvPr/>
        </p:nvSpPr>
        <p:spPr>
          <a:xfrm>
            <a:off x="6126480" y="3850893"/>
            <a:ext cx="2468880" cy="6205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chemeClr val="tx1"/>
                </a:solidFill>
              </a:rPr>
              <a:t>de presupuesto total</a:t>
            </a:r>
          </a:p>
        </p:txBody>
      </p:sp>
      <p:sp>
        <p:nvSpPr>
          <p:cNvPr id="1019" name="Rounded Rectangle 1018"/>
          <p:cNvSpPr/>
          <p:nvPr/>
        </p:nvSpPr>
        <p:spPr>
          <a:xfrm>
            <a:off x="5943600" y="4709160"/>
            <a:ext cx="2834640" cy="1325880"/>
          </a:xfrm>
          <a:prstGeom prst="roundRect">
            <a:avLst>
              <a:gd name="adj" fmla="val 3719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0" name="TextBox 1019"/>
          <p:cNvSpPr txBox="1"/>
          <p:nvPr/>
        </p:nvSpPr>
        <p:spPr>
          <a:xfrm>
            <a:off x="6126480" y="4846320"/>
            <a:ext cx="2468880" cy="412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chemeClr val="accent2"/>
                </a:solidFill>
              </a:rPr>
              <a:t>25.2%</a:t>
            </a:r>
          </a:p>
        </p:txBody>
      </p:sp>
      <p:sp>
        <p:nvSpPr>
          <p:cNvPr id="1021" name="TextBox 1020"/>
          <p:cNvSpPr txBox="1"/>
          <p:nvPr/>
        </p:nvSpPr>
        <p:spPr>
          <a:xfrm>
            <a:off x="6126480" y="5313934"/>
            <a:ext cx="2468880" cy="6205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chemeClr val="bg1"/>
                </a:solidFill>
              </a:rPr>
              <a:t>de las consultas terminó en una derivación efectiva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sz="3400" b="1">
                <a:solidFill>
                  <a:schemeClr val="accent1"/>
                </a:solidFill>
              </a:rPr>
              <a:t>Costo por derivación según canal</a:t>
            </a:r>
          </a:p>
        </p:txBody>
      </p:sp>
      <p:sp>
        <p:nvSpPr>
          <p:cNvPr id="99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4652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s-PY" b="0"/>
              <a:t>15</a:t>
            </a:fld>
            <a:endParaRPr lang="es-PY"/>
          </a:p>
        </p:txBody>
      </p:sp>
      <p:graphicFrame>
        <p:nvGraphicFramePr>
          <p:cNvPr id="1000" name="Chart 999"/>
          <p:cNvGraphicFramePr>
            <a:graphicFrameLocks noGrp="1"/>
          </p:cNvGraphicFramePr>
          <p:nvPr/>
        </p:nvGraphicFramePr>
        <p:xfrm>
          <a:off x="685800" y="1783080"/>
          <a:ext cx="50292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01" name="Rounded Rectangle 1000"/>
          <p:cNvSpPr/>
          <p:nvPr/>
        </p:nvSpPr>
        <p:spPr>
          <a:xfrm>
            <a:off x="5943600" y="1783080"/>
            <a:ext cx="2834640" cy="1325880"/>
          </a:xfrm>
          <a:prstGeom prst="roundRect">
            <a:avLst>
              <a:gd name="adj" fmla="val 3719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2" name="TextBox 1001"/>
          <p:cNvSpPr txBox="1"/>
          <p:nvPr/>
        </p:nvSpPr>
        <p:spPr>
          <a:xfrm>
            <a:off x="6126480" y="1920240"/>
            <a:ext cx="2468880" cy="412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chemeClr val="accent2"/>
                </a:solidFill>
              </a:rPr>
              <a:t>Gs. 589</a:t>
            </a:r>
          </a:p>
        </p:txBody>
      </p:sp>
      <p:sp>
        <p:nvSpPr>
          <p:cNvPr id="1003" name="TextBox 1002"/>
          <p:cNvSpPr txBox="1"/>
          <p:nvPr/>
        </p:nvSpPr>
        <p:spPr>
          <a:xfrm>
            <a:off x="6126480" y="2387854"/>
            <a:ext cx="2468880" cy="6205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chemeClr val="bg1"/>
                </a:solidFill>
              </a:rPr>
              <a:t>por derivación en WhatsApp Business: el canal más eficiente</a:t>
            </a:r>
          </a:p>
        </p:txBody>
      </p:sp>
      <p:sp>
        <p:nvSpPr>
          <p:cNvPr id="1004" name="Rounded Rectangle 1003"/>
          <p:cNvSpPr/>
          <p:nvPr/>
        </p:nvSpPr>
        <p:spPr>
          <a:xfrm>
            <a:off x="5943600" y="3246120"/>
            <a:ext cx="2834640" cy="1325880"/>
          </a:xfrm>
          <a:prstGeom prst="roundRect">
            <a:avLst>
              <a:gd name="adj" fmla="val 3719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5" name="TextBox 1004"/>
          <p:cNvSpPr txBox="1"/>
          <p:nvPr/>
        </p:nvSpPr>
        <p:spPr>
          <a:xfrm>
            <a:off x="6126480" y="3383279"/>
            <a:ext cx="2468880" cy="412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chemeClr val="accent1"/>
                </a:solidFill>
              </a:rPr>
              <a:t>20 veces</a:t>
            </a:r>
          </a:p>
        </p:txBody>
      </p:sp>
      <p:sp>
        <p:nvSpPr>
          <p:cNvPr id="1006" name="TextBox 1005"/>
          <p:cNvSpPr txBox="1"/>
          <p:nvPr/>
        </p:nvSpPr>
        <p:spPr>
          <a:xfrm>
            <a:off x="6126480" y="3850893"/>
            <a:ext cx="2468880" cy="6205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chemeClr val="tx1"/>
                </a:solidFill>
              </a:rPr>
              <a:t>más cara cada derivación en Meta Ads (Gs. 11.678)</a:t>
            </a:r>
          </a:p>
        </p:txBody>
      </p:sp>
      <p:sp>
        <p:nvSpPr>
          <p:cNvPr id="1007" name="Rounded Rectangle 1006"/>
          <p:cNvSpPr/>
          <p:nvPr/>
        </p:nvSpPr>
        <p:spPr>
          <a:xfrm>
            <a:off x="5943600" y="4709160"/>
            <a:ext cx="2834640" cy="1325880"/>
          </a:xfrm>
          <a:prstGeom prst="roundRect">
            <a:avLst>
              <a:gd name="adj" fmla="val 3719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8" name="TextBox 1007"/>
          <p:cNvSpPr txBox="1"/>
          <p:nvPr/>
        </p:nvSpPr>
        <p:spPr>
          <a:xfrm>
            <a:off x="6126480" y="4846320"/>
            <a:ext cx="2468880" cy="412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chemeClr val="accent1"/>
                </a:solidFill>
              </a:rPr>
              <a:t>80.65%</a:t>
            </a:r>
          </a:p>
        </p:txBody>
      </p:sp>
      <p:sp>
        <p:nvSpPr>
          <p:cNvPr id="1009" name="TextBox 1008"/>
          <p:cNvSpPr txBox="1"/>
          <p:nvPr/>
        </p:nvSpPr>
        <p:spPr>
          <a:xfrm>
            <a:off x="6126480" y="5313934"/>
            <a:ext cx="2468880" cy="6205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chemeClr val="tx1"/>
                </a:solidFill>
              </a:rPr>
              <a:t>de las derivaciones vino de WhatsApp y ferias, con el 28.89% del presupuesto</a:t>
            </a:r>
          </a:p>
        </p:txBody>
      </p:sp>
      <p:sp>
        <p:nvSpPr>
          <p:cNvPr id="1010" name="TextBox 1009"/>
          <p:cNvSpPr txBox="1"/>
          <p:nvPr/>
        </p:nvSpPr>
        <p:spPr>
          <a:xfrm>
            <a:off x="685800" y="6035040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chemeClr val="accent5"/>
                </a:solidFill>
              </a:rPr>
              <a:t>Fuente: tabla marketing_kpis, 42 días de campaña. Costo = presupuesto del canal / derivaciones.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sz="3400" b="1">
                <a:solidFill>
                  <a:schemeClr val="accent1"/>
                </a:solidFill>
              </a:rPr>
              <a:t>Conclusiones</a:t>
            </a:r>
          </a:p>
        </p:txBody>
      </p:sp>
      <p:sp>
        <p:nvSpPr>
          <p:cNvPr id="99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4652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s-PY" b="0"/>
              <a:t>16</a:t>
            </a:fld>
            <a:endParaRPr lang="es-PY"/>
          </a:p>
        </p:txBody>
      </p:sp>
      <p:sp>
        <p:nvSpPr>
          <p:cNvPr id="1000" name="Rounded Rectangle 999"/>
          <p:cNvSpPr/>
          <p:nvPr/>
        </p:nvSpPr>
        <p:spPr>
          <a:xfrm>
            <a:off x="685800" y="1783080"/>
            <a:ext cx="2575560" cy="2011680"/>
          </a:xfrm>
          <a:prstGeom prst="roundRect">
            <a:avLst>
              <a:gd name="adj" fmla="val 3719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1" name="Oval 1000"/>
          <p:cNvSpPr/>
          <p:nvPr/>
        </p:nvSpPr>
        <p:spPr>
          <a:xfrm>
            <a:off x="868680" y="19659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2" name="TextBox 1001"/>
          <p:cNvSpPr txBox="1"/>
          <p:nvPr/>
        </p:nvSpPr>
        <p:spPr>
          <a:xfrm>
            <a:off x="868680" y="196596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003" name="TextBox 1002"/>
          <p:cNvSpPr txBox="1"/>
          <p:nvPr/>
        </p:nvSpPr>
        <p:spPr>
          <a:xfrm>
            <a:off x="1417320" y="1920240"/>
            <a:ext cx="166115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chemeClr val="tx2"/>
                </a:solidFill>
              </a:rPr>
              <a:t>Informalidad estructural</a:t>
            </a:r>
          </a:p>
        </p:txBody>
      </p:sp>
      <p:sp>
        <p:nvSpPr>
          <p:cNvPr id="1004" name="TextBox 1003"/>
          <p:cNvSpPr txBox="1"/>
          <p:nvPr/>
        </p:nvSpPr>
        <p:spPr>
          <a:xfrm>
            <a:off x="868680" y="2560320"/>
            <a:ext cx="22098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chemeClr val="tx1"/>
                </a:solidFill>
              </a:rPr>
              <a:t>85.24% gana menos del mínimo, 95.24% no tiene IPS y 98.4% de los empleados de MYPEs no está inscripto.</a:t>
            </a:r>
          </a:p>
        </p:txBody>
      </p:sp>
      <p:sp>
        <p:nvSpPr>
          <p:cNvPr id="1005" name="Rounded Rectangle 1004"/>
          <p:cNvSpPr/>
          <p:nvPr/>
        </p:nvSpPr>
        <p:spPr>
          <a:xfrm>
            <a:off x="3444240" y="1783080"/>
            <a:ext cx="2575560" cy="2011680"/>
          </a:xfrm>
          <a:prstGeom prst="roundRect">
            <a:avLst>
              <a:gd name="adj" fmla="val 3719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6" name="Oval 1005"/>
          <p:cNvSpPr/>
          <p:nvPr/>
        </p:nvSpPr>
        <p:spPr>
          <a:xfrm>
            <a:off x="3627120" y="19659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7" name="TextBox 1006"/>
          <p:cNvSpPr txBox="1"/>
          <p:nvPr/>
        </p:nvSpPr>
        <p:spPr>
          <a:xfrm>
            <a:off x="3627120" y="196596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008" name="TextBox 1007"/>
          <p:cNvSpPr txBox="1"/>
          <p:nvPr/>
        </p:nvSpPr>
        <p:spPr>
          <a:xfrm>
            <a:off x="4175760" y="1920240"/>
            <a:ext cx="166115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chemeClr val="tx2"/>
                </a:solidFill>
              </a:rPr>
              <a:t>Sin retorno educativo</a:t>
            </a:r>
          </a:p>
        </p:txBody>
      </p:sp>
      <p:sp>
        <p:nvSpPr>
          <p:cNvPr id="1009" name="TextBox 1008"/>
          <p:cNvSpPr txBox="1"/>
          <p:nvPr/>
        </p:nvSpPr>
        <p:spPr>
          <a:xfrm>
            <a:off x="3627120" y="2560320"/>
            <a:ext cx="22098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chemeClr val="tx1"/>
                </a:solidFill>
              </a:rPr>
              <a:t>Escolaridad e ingreso no se relacionan (r = 0.0092, p = .850): estudiar no basta sin capital ni formalización.</a:t>
            </a:r>
          </a:p>
        </p:txBody>
      </p:sp>
      <p:sp>
        <p:nvSpPr>
          <p:cNvPr id="1010" name="Rounded Rectangle 1009"/>
          <p:cNvSpPr/>
          <p:nvPr/>
        </p:nvSpPr>
        <p:spPr>
          <a:xfrm>
            <a:off x="6202680" y="1783080"/>
            <a:ext cx="2575560" cy="2011680"/>
          </a:xfrm>
          <a:prstGeom prst="roundRect">
            <a:avLst>
              <a:gd name="adj" fmla="val 3719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1" name="Oval 1010"/>
          <p:cNvSpPr/>
          <p:nvPr/>
        </p:nvSpPr>
        <p:spPr>
          <a:xfrm>
            <a:off x="6385560" y="19659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2" name="TextBox 1011"/>
          <p:cNvSpPr txBox="1"/>
          <p:nvPr/>
        </p:nvSpPr>
        <p:spPr>
          <a:xfrm>
            <a:off x="6385560" y="196596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013" name="TextBox 1012"/>
          <p:cNvSpPr txBox="1"/>
          <p:nvPr/>
        </p:nvSpPr>
        <p:spPr>
          <a:xfrm>
            <a:off x="6934200" y="1920240"/>
            <a:ext cx="166115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chemeClr val="tx2"/>
                </a:solidFill>
              </a:rPr>
              <a:t>Homogeneidad territorial</a:t>
            </a:r>
          </a:p>
        </p:txBody>
      </p:sp>
      <p:sp>
        <p:nvSpPr>
          <p:cNvPr id="1014" name="TextBox 1013"/>
          <p:cNvSpPr txBox="1"/>
          <p:nvPr/>
        </p:nvSpPr>
        <p:spPr>
          <a:xfrm>
            <a:off x="6385560" y="2560320"/>
            <a:ext cx="22098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chemeClr val="tx1"/>
                </a:solidFill>
              </a:rPr>
              <a:t>La vulnerabilidad no cambia entre barrios (H(6) = 4.93, p = .553): la respuesta debe ser distrital.</a:t>
            </a:r>
          </a:p>
        </p:txBody>
      </p:sp>
      <p:sp>
        <p:nvSpPr>
          <p:cNvPr id="1015" name="Rounded Rectangle 1014"/>
          <p:cNvSpPr/>
          <p:nvPr/>
        </p:nvSpPr>
        <p:spPr>
          <a:xfrm>
            <a:off x="685800" y="3977639"/>
            <a:ext cx="3954780" cy="2011680"/>
          </a:xfrm>
          <a:prstGeom prst="roundRect">
            <a:avLst>
              <a:gd name="adj" fmla="val 3719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6" name="Oval 1015"/>
          <p:cNvSpPr/>
          <p:nvPr/>
        </p:nvSpPr>
        <p:spPr>
          <a:xfrm>
            <a:off x="868680" y="41605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7" name="TextBox 1016"/>
          <p:cNvSpPr txBox="1"/>
          <p:nvPr/>
        </p:nvSpPr>
        <p:spPr>
          <a:xfrm>
            <a:off x="868680" y="416052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18" name="TextBox 1017"/>
          <p:cNvSpPr txBox="1"/>
          <p:nvPr/>
        </p:nvSpPr>
        <p:spPr>
          <a:xfrm>
            <a:off x="1417320" y="4114800"/>
            <a:ext cx="30403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chemeClr val="tx2"/>
                </a:solidFill>
              </a:rPr>
              <a:t>La desinformación es la barrera</a:t>
            </a:r>
          </a:p>
        </p:txBody>
      </p:sp>
      <p:sp>
        <p:nvSpPr>
          <p:cNvPr id="1019" name="TextBox 1018"/>
          <p:cNvSpPr txBox="1"/>
          <p:nvPr/>
        </p:nvSpPr>
        <p:spPr>
          <a:xfrm>
            <a:off x="868680" y="4754879"/>
            <a:ext cx="358902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chemeClr val="tx1"/>
                </a:solidFill>
              </a:rPr>
              <a:t>Desconocer los trámites es el 1.er motivo patronal (23.0%) y también pesa en los trabajadores (17.0%).</a:t>
            </a:r>
          </a:p>
        </p:txBody>
      </p:sp>
      <p:sp>
        <p:nvSpPr>
          <p:cNvPr id="1020" name="Rounded Rectangle 1019"/>
          <p:cNvSpPr/>
          <p:nvPr/>
        </p:nvSpPr>
        <p:spPr>
          <a:xfrm>
            <a:off x="4823460" y="3977639"/>
            <a:ext cx="3954780" cy="2011680"/>
          </a:xfrm>
          <a:prstGeom prst="roundRect">
            <a:avLst>
              <a:gd name="adj" fmla="val 3719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1" name="Oval 1020"/>
          <p:cNvSpPr/>
          <p:nvPr/>
        </p:nvSpPr>
        <p:spPr>
          <a:xfrm>
            <a:off x="5006340" y="416052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2" name="TextBox 1021"/>
          <p:cNvSpPr txBox="1"/>
          <p:nvPr/>
        </p:nvSpPr>
        <p:spPr>
          <a:xfrm>
            <a:off x="5006340" y="416052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023" name="TextBox 1022"/>
          <p:cNvSpPr txBox="1"/>
          <p:nvPr/>
        </p:nvSpPr>
        <p:spPr>
          <a:xfrm>
            <a:off x="5554980" y="4114800"/>
            <a:ext cx="30403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chemeClr val="bg1"/>
                </a:solidFill>
              </a:rPr>
              <a:t>El SIG orienta el gasto</a:t>
            </a:r>
          </a:p>
        </p:txBody>
      </p:sp>
      <p:sp>
        <p:nvSpPr>
          <p:cNvPr id="1024" name="TextBox 1023"/>
          <p:cNvSpPr txBox="1"/>
          <p:nvPr/>
        </p:nvSpPr>
        <p:spPr>
          <a:xfrm>
            <a:off x="5006340" y="4754879"/>
            <a:ext cx="358902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chemeClr val="bg1"/>
                </a:solidFill>
              </a:rPr>
              <a:t>Captura móvil, base en 3FN y dashboard mostraron que los canales de proximidad son hasta 20 veces más eficientes por derivación.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sz="3400" b="1">
                <a:solidFill>
                  <a:schemeClr val="accent1"/>
                </a:solidFill>
              </a:rPr>
              <a:t>Recomendaciones para Villarrica</a:t>
            </a:r>
          </a:p>
        </p:txBody>
      </p:sp>
      <p:sp>
        <p:nvSpPr>
          <p:cNvPr id="99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4652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s-PY" b="0"/>
              <a:t>17</a:t>
            </a:fld>
            <a:endParaRPr lang="es-PY"/>
          </a:p>
        </p:txBody>
      </p:sp>
      <p:sp>
        <p:nvSpPr>
          <p:cNvPr id="1000" name="Rounded Rectangle 999"/>
          <p:cNvSpPr/>
          <p:nvPr/>
        </p:nvSpPr>
        <p:spPr>
          <a:xfrm>
            <a:off x="685800" y="1783080"/>
            <a:ext cx="8092440" cy="960120"/>
          </a:xfrm>
          <a:prstGeom prst="roundRect">
            <a:avLst>
              <a:gd name="adj" fmla="val 3719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1" name="Rounded Rectangle 1000"/>
          <p:cNvSpPr/>
          <p:nvPr/>
        </p:nvSpPr>
        <p:spPr>
          <a:xfrm>
            <a:off x="841248" y="1920240"/>
            <a:ext cx="685800" cy="6858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2" name="TextBox 1001"/>
          <p:cNvSpPr txBox="1"/>
          <p:nvPr/>
        </p:nvSpPr>
        <p:spPr>
          <a:xfrm>
            <a:off x="841248" y="192024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003" name="TextBox 1002"/>
          <p:cNvSpPr txBox="1"/>
          <p:nvPr/>
        </p:nvSpPr>
        <p:spPr>
          <a:xfrm>
            <a:off x="1737360" y="1892807"/>
            <a:ext cx="6858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chemeClr val="tx2"/>
                </a:solidFill>
              </a:rPr>
              <a:t>Ventanilla única móvil (SUACE · DNIT · IPS)</a:t>
            </a:r>
          </a:p>
        </p:txBody>
      </p:sp>
      <p:sp>
        <p:nvSpPr>
          <p:cNvPr id="1004" name="TextBox 1003"/>
          <p:cNvSpPr txBox="1"/>
          <p:nvPr/>
        </p:nvSpPr>
        <p:spPr>
          <a:xfrm>
            <a:off x="1737360" y="2221991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chemeClr val="tx1"/>
                </a:solidFill>
              </a:rPr>
              <a:t>Brigadas en mercados y ferias barriales (Centro, San Miguel, Estación) para inscribir en RESIMPLE e IPS en el acto.</a:t>
            </a:r>
          </a:p>
        </p:txBody>
      </p:sp>
      <p:sp>
        <p:nvSpPr>
          <p:cNvPr id="1005" name="Rounded Rectangle 1004"/>
          <p:cNvSpPr/>
          <p:nvPr/>
        </p:nvSpPr>
        <p:spPr>
          <a:xfrm>
            <a:off x="685800" y="2862072"/>
            <a:ext cx="8092440" cy="960120"/>
          </a:xfrm>
          <a:prstGeom prst="roundRect">
            <a:avLst>
              <a:gd name="adj" fmla="val 3719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6" name="Rounded Rectangle 1005"/>
          <p:cNvSpPr/>
          <p:nvPr/>
        </p:nvSpPr>
        <p:spPr>
          <a:xfrm>
            <a:off x="841248" y="2999232"/>
            <a:ext cx="685800" cy="6858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7" name="TextBox 1006"/>
          <p:cNvSpPr txBox="1"/>
          <p:nvPr/>
        </p:nvSpPr>
        <p:spPr>
          <a:xfrm>
            <a:off x="841248" y="2999232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008" name="TextBox 1007"/>
          <p:cNvSpPr txBox="1"/>
          <p:nvPr/>
        </p:nvSpPr>
        <p:spPr>
          <a:xfrm>
            <a:off x="1737360" y="2971800"/>
            <a:ext cx="6858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chemeClr val="tx2"/>
                </a:solidFill>
              </a:rPr>
              <a:t>Difusión de regímenes específicos</a:t>
            </a:r>
          </a:p>
        </p:txBody>
      </p:sp>
      <p:sp>
        <p:nvSpPr>
          <p:cNvPr id="1009" name="TextBox 1008"/>
          <p:cNvSpPr txBox="1"/>
          <p:nvPr/>
        </p:nvSpPr>
        <p:spPr>
          <a:xfrm>
            <a:off x="1737360" y="3300984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chemeClr val="tx1"/>
                </a:solidFill>
              </a:rPr>
              <a:t>Capacitar a microempresarios en la Ley N.° 5741/16 y en la Ley N.° 4933/13 (aporte voluntario de independientes al IPS).</a:t>
            </a:r>
          </a:p>
        </p:txBody>
      </p:sp>
      <p:sp>
        <p:nvSpPr>
          <p:cNvPr id="1010" name="Rounded Rectangle 1009"/>
          <p:cNvSpPr/>
          <p:nvPr/>
        </p:nvSpPr>
        <p:spPr>
          <a:xfrm>
            <a:off x="685800" y="3941063"/>
            <a:ext cx="8092440" cy="960120"/>
          </a:xfrm>
          <a:prstGeom prst="roundRect">
            <a:avLst>
              <a:gd name="adj" fmla="val 3719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1" name="Rounded Rectangle 1010"/>
          <p:cNvSpPr/>
          <p:nvPr/>
        </p:nvSpPr>
        <p:spPr>
          <a:xfrm>
            <a:off x="841248" y="4078224"/>
            <a:ext cx="685800" cy="6858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2" name="TextBox 1011"/>
          <p:cNvSpPr txBox="1"/>
          <p:nvPr/>
        </p:nvSpPr>
        <p:spPr>
          <a:xfrm>
            <a:off x="841248" y="4078224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013" name="TextBox 1012"/>
          <p:cNvSpPr txBox="1"/>
          <p:nvPr/>
        </p:nvSpPr>
        <p:spPr>
          <a:xfrm>
            <a:off x="1737360" y="4050791"/>
            <a:ext cx="6858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chemeClr val="tx2"/>
                </a:solidFill>
              </a:rPr>
              <a:t>Comunicación con asistencia directa</a:t>
            </a:r>
          </a:p>
        </p:txBody>
      </p:sp>
      <p:sp>
        <p:nvSpPr>
          <p:cNvPr id="1014" name="TextBox 1013"/>
          <p:cNvSpPr txBox="1"/>
          <p:nvPr/>
        </p:nvSpPr>
        <p:spPr>
          <a:xfrm>
            <a:off x="1737360" y="4379975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chemeClr val="tx1"/>
                </a:solidFill>
              </a:rPr>
              <a:t>Priorizar WhatsApp asistido y promotores de campo por sobre la pauta publicitaria masiva.</a:t>
            </a:r>
          </a:p>
        </p:txBody>
      </p:sp>
      <p:sp>
        <p:nvSpPr>
          <p:cNvPr id="1015" name="Rounded Rectangle 1014"/>
          <p:cNvSpPr/>
          <p:nvPr/>
        </p:nvSpPr>
        <p:spPr>
          <a:xfrm>
            <a:off x="685800" y="5020056"/>
            <a:ext cx="8092440" cy="960120"/>
          </a:xfrm>
          <a:prstGeom prst="roundRect">
            <a:avLst>
              <a:gd name="adj" fmla="val 3719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6" name="Rounded Rectangle 1015"/>
          <p:cNvSpPr/>
          <p:nvPr/>
        </p:nvSpPr>
        <p:spPr>
          <a:xfrm>
            <a:off x="841248" y="5157216"/>
            <a:ext cx="685800" cy="6858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7" name="TextBox 1016"/>
          <p:cNvSpPr txBox="1"/>
          <p:nvPr/>
        </p:nvSpPr>
        <p:spPr>
          <a:xfrm>
            <a:off x="841248" y="5157216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18" name="TextBox 1017"/>
          <p:cNvSpPr txBox="1"/>
          <p:nvPr/>
        </p:nvSpPr>
        <p:spPr>
          <a:xfrm>
            <a:off x="1737360" y="5129784"/>
            <a:ext cx="6858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chemeClr val="tx2"/>
                </a:solidFill>
              </a:rPr>
              <a:t>Continuidad del SIG</a:t>
            </a:r>
          </a:p>
        </p:txBody>
      </p:sp>
      <p:sp>
        <p:nvSpPr>
          <p:cNvPr id="1019" name="TextBox 1018"/>
          <p:cNvSpPr txBox="1"/>
          <p:nvPr/>
        </p:nvSpPr>
        <p:spPr>
          <a:xfrm>
            <a:off x="1737360" y="5458968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chemeClr val="tx1"/>
                </a:solidFill>
              </a:rPr>
              <a:t>Mantener la base de datos y el dashboard para seguir cada derivación hasta el estado final del trámite.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822960"/>
            <a:ext cx="8046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>
                <a:solidFill>
                  <a:schemeClr val="accent1"/>
                </a:solidFill>
              </a:rPr>
              <a:t>Muchas gracias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>
                <a:solidFill>
                  <a:schemeClr val="accent5"/>
                </a:solidFill>
              </a:rPr>
              <a:t>Quedamos a disposición de la mesa para las preguntas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43200"/>
            <a:ext cx="2103120" cy="210312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3063240"/>
            <a:ext cx="3017520" cy="163695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309360" y="2514600"/>
            <a:ext cx="2423160" cy="3383280"/>
          </a:xfrm>
          <a:prstGeom prst="roundRect">
            <a:avLst>
              <a:gd name="adj" fmla="val 3719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09360" y="2651760"/>
            <a:ext cx="2423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chemeClr val="accent1"/>
                </a:solidFill>
              </a:rPr>
              <a:t>Dashboard en línea</a:t>
            </a:r>
          </a:p>
        </p:txBody>
      </p:sp>
      <p:pic>
        <p:nvPicPr>
          <p:cNvPr id="8" name="Picture 7" descr="qr_github_pages.png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3063240"/>
            <a:ext cx="1965960" cy="1965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5120640"/>
            <a:ext cx="22402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chemeClr val="tx2"/>
                </a:solidFill>
                <a:hlinkClick r:id="rId5"/>
              </a:rPr>
              <a:t>gilgapy.github.io/</a:t>
            </a:r>
          </a:p>
          <a:p>
            <a:pPr algn="ctr">
              <a:spcBef>
                <a:spcPts val="0"/>
              </a:spcBef>
            </a:pPr>
            <a:r>
              <a:rPr sz="1000" b="0" i="0">
                <a:solidFill>
                  <a:schemeClr val="tx2"/>
                </a:solidFill>
                <a:hlinkClick r:id="rId5"/>
              </a:rPr>
              <a:t>sig-informalidad-villarrica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532120"/>
            <a:ext cx="22402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chemeClr val="accent5"/>
                </a:solidFill>
              </a:rPr>
              <a:t>Escaneá con la cámara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ensa UNVES">
  <a:themeElements>
    <a:clrScheme name="Defensa UNVES">
      <a:dk1>
        <a:srgbClr val="262626"/>
      </a:dk1>
      <a:lt1>
        <a:srgbClr val="FFFFFF"/>
      </a:lt1>
      <a:dk2>
        <a:srgbClr val="1B5E20"/>
      </a:dk2>
      <a:lt2>
        <a:srgbClr val="EEF7EE"/>
      </a:lt2>
      <a:accent1>
        <a:srgbClr val="00B050"/>
      </a:accent1>
      <a:accent2>
        <a:srgbClr val="8DC63F"/>
      </a:accent2>
      <a:accent3>
        <a:srgbClr val="2E7D32"/>
      </a:accent3>
      <a:accent4>
        <a:srgbClr val="E67E22"/>
      </a:accent4>
      <a:accent5>
        <a:srgbClr val="5F6B62"/>
      </a:accent5>
      <a:accent6>
        <a:srgbClr val="C0392B"/>
      </a:accent6>
      <a:hlink>
        <a:srgbClr val="0563C1"/>
      </a:hlink>
      <a:folHlink>
        <a:srgbClr val="954F72"/>
      </a:folHlink>
    </a:clrScheme>
    <a:fontScheme name="Defensa UNVES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rebuchet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2391</Words>
  <Application>Microsoft Macintosh PowerPoint</Application>
  <PresentationFormat>Panorámica</PresentationFormat>
  <Paragraphs>235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1" baseType="lpstr">
      <vt:lpstr>Arial</vt:lpstr>
      <vt:lpstr>Trebuchet MS</vt:lpstr>
      <vt:lpstr>Defensa UNVES</vt:lpstr>
      <vt:lpstr>Presentación de PowerPoint</vt:lpstr>
      <vt:lpstr>Planteamiento del problema</vt:lpstr>
      <vt:lpstr>Objetivos</vt:lpstr>
      <vt:lpstr>Diseño metodológico</vt:lpstr>
      <vt:lpstr>Principales hallazgos</vt:lpstr>
      <vt:lpstr>Brecha salarial por barrio</vt:lpstr>
      <vt:lpstr>La trampa de la informalidad</vt:lpstr>
      <vt:lpstr>Territorio y género</vt:lpstr>
      <vt:lpstr>MYPEs e informalidad patronal</vt:lpstr>
      <vt:lpstr>¿Por qué no aportan al IPS?</vt:lpstr>
      <vt:lpstr>Arquitectura del SIG</vt:lpstr>
      <vt:lpstr>Modelo entidad-relación (3FN)</vt:lpstr>
      <vt:lpstr>Dashboard gerencial en vivo</vt:lpstr>
      <vt:lpstr>Embudo de la campaña</vt:lpstr>
      <vt:lpstr>Costo por derivación según canal</vt:lpstr>
      <vt:lpstr>Conclusiones</vt:lpstr>
      <vt:lpstr>Recomendaciones para Villarrica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Defensa oral — Proyecto Interdisciplinario UNVES 2026</dc:title>
  <dc:subject>PptxGenJS Presentation</dc:subject>
  <dc:creator>Yamila Belen Rojas Villanueva; Aldo Ramon Fonseca</dc:creator>
  <cp:lastModifiedBy>Johnny Oviedo</cp:lastModifiedBy>
  <cp:revision>2</cp:revision>
  <dcterms:created xsi:type="dcterms:W3CDTF">2026-10-10T01:01:02Z</dcterms:created>
  <dcterms:modified xsi:type="dcterms:W3CDTF">2026-10-17T15:09:48Z</dcterms:modified>
</cp:coreProperties>
</file>